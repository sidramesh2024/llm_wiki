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
  </p:notesMasterIdLst>
  <p:sldIdLst>
    <p:sldId id="256" r:id="rId2"/>
    <p:sldId id="287" r:id="rId3"/>
    <p:sldId id="290" r:id="rId4"/>
    <p:sldId id="291" r:id="rId5"/>
  </p:sldIdLst>
  <p:sldSz cx="12192000" cy="6858000"/>
  <p:notesSz cx="6858000" cy="9144000"/>
  <p:embeddedFontLst>
    <p:embeddedFont>
      <p:font typeface="Inter" panose="020B0604020202020204" charset="0"/>
      <p:regular r:id="rId7"/>
      <p:bold r:id="rId8"/>
      <p:italic r:id="rId9"/>
      <p:boldItalic r:id="rId10"/>
    </p:embeddedFont>
    <p:embeddedFont>
      <p:font typeface="Poppins" panose="00000500000000000000" pitchFamily="2" charset="0"/>
      <p:regular r:id="rId11"/>
      <p:bold r:id="rId12"/>
      <p:italic r:id="rId13"/>
      <p:boldItalic r:id="rId14"/>
    </p:embeddedFont>
    <p:embeddedFont>
      <p:font typeface="Poppins Medium" panose="00000600000000000000" pitchFamily="2" charset="0"/>
      <p:regular r:id="rId15"/>
      <p:bold r:id="rId16"/>
      <p:italic r:id="rId17"/>
      <p:boldItalic r:id="rId18"/>
    </p:embeddedFont>
    <p:embeddedFont>
      <p:font typeface="Trebuchet MS" panose="020B060302020202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28">
          <p15:clr>
            <a:srgbClr val="747775"/>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TdKVFBE0B5aYBti/fdr+Reti7M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ikhil Ladha" initials=""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573D9F-D31A-47A7-AE04-A9E325E12CBA}">
  <a:tblStyle styleId="{1E573D9F-D31A-47A7-AE04-A9E325E12CB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guide orient="horz" pos="102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15.fntdata"/><Relationship Id="rId55" Type="http://schemas.openxmlformats.org/officeDocument/2006/relationships/presProps" Target="presProps.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font" Target="fonts/font14.fntdata"/><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3" Type="http://customschemas.google.com/relationships/presentationmetadata" Target="meta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9.fntdata"/><Relationship Id="rId57" Type="http://schemas.openxmlformats.org/officeDocument/2006/relationships/theme" Target="theme/theme1.xml"/><Relationship Id="rId10" Type="http://schemas.openxmlformats.org/officeDocument/2006/relationships/font" Target="fonts/font4.fntdata"/><Relationship Id="rId19"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font" Target="fonts/font16.fntdata"/><Relationship Id="rId5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7"/>
        <p:cNvGrpSpPr/>
        <p:nvPr/>
      </p:nvGrpSpPr>
      <p:grpSpPr>
        <a:xfrm>
          <a:off x="0" y="0"/>
          <a:ext cx="0" cy="0"/>
          <a:chOff x="0" y="0"/>
          <a:chExt cx="0" cy="0"/>
        </a:xfrm>
      </p:grpSpPr>
      <p:sp>
        <p:nvSpPr>
          <p:cNvPr id="1678" name="Google Shape;1678;g3c85409342f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
        <p:nvSpPr>
          <p:cNvPr id="1679" name="Google Shape;1679;g3c85409342f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twitter.com/tigeranalytics" TargetMode="External"/><Relationship Id="rId2" Type="http://schemas.openxmlformats.org/officeDocument/2006/relationships/hyperlink" Target="http://www.tigeranalytics.com/" TargetMode="External"/><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s://www.facebook.com/tigeranalytics/" TargetMode="External"/><Relationship Id="rId4" Type="http://schemas.openxmlformats.org/officeDocument/2006/relationships/hyperlink" Target="https://www.linkedin.com/company/tiger-analytics?challengeId=AQFITyRVMYz_WgAAAX03FhALtfIwJnOfTt8O8ItYNEU6KObBuXUtLZYE8ptZJNZRkHnETWB4CINjpFHyI3IY__5jmiw_7EA0Zw&amp;submissionId=6e27344e-cce1-b816-816e-afcb6116b05d"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2"/>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346">
          <p15:clr>
            <a:srgbClr val="FBAE40"/>
          </p15:clr>
        </p15:guide>
        <p15:guide id="2" pos="325">
          <p15:clr>
            <a:srgbClr val="FBAE40"/>
          </p15:clr>
        </p15:guide>
        <p15:guide id="3" pos="7355">
          <p15:clr>
            <a:srgbClr val="FBAE40"/>
          </p15:clr>
        </p15:guide>
        <p15:guide id="4" orient="horz" pos="404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23"/>
          <p:cNvSpPr/>
          <p:nvPr/>
        </p:nvSpPr>
        <p:spPr>
          <a:xfrm>
            <a:off x="6" y="5"/>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67"/>
              <a:buFont typeface="Arial"/>
              <a:buNone/>
            </a:pPr>
            <a:endParaRPr sz="1867" b="0" i="0" u="none" strike="noStrike" cap="none">
              <a:solidFill>
                <a:schemeClr val="dk1"/>
              </a:solidFill>
              <a:latin typeface="Calibri"/>
              <a:ea typeface="Calibri"/>
              <a:cs typeface="Calibri"/>
              <a:sym typeface="Calibri"/>
            </a:endParaRPr>
          </a:p>
        </p:txBody>
      </p:sp>
      <p:sp>
        <p:nvSpPr>
          <p:cNvPr id="15" name="Google Shape;15;p23"/>
          <p:cNvSpPr/>
          <p:nvPr/>
        </p:nvSpPr>
        <p:spPr>
          <a:xfrm>
            <a:off x="3" y="4"/>
            <a:ext cx="403375"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67"/>
              <a:buFont typeface="Arial"/>
              <a:buNone/>
            </a:pPr>
            <a:endParaRPr sz="1867" b="0" i="0" u="none" strike="noStrike" cap="none">
              <a:solidFill>
                <a:schemeClr val="dk1"/>
              </a:solidFill>
              <a:latin typeface="Calibri"/>
              <a:ea typeface="Calibri"/>
              <a:cs typeface="Calibri"/>
              <a:sym typeface="Calibri"/>
            </a:endParaRPr>
          </a:p>
        </p:txBody>
      </p:sp>
      <p:sp>
        <p:nvSpPr>
          <p:cNvPr id="16" name="Google Shape;16;p23"/>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chemeClr val="dk1"/>
                </a:solidFill>
                <a:latin typeface="Calibri"/>
                <a:ea typeface="Calibri"/>
                <a:cs typeface="Calibri"/>
                <a:sym typeface="Calibri"/>
              </a:rPr>
              <a:t>‹#›</a:t>
            </a:fld>
            <a:endParaRPr sz="900" b="0" i="0" u="none" strike="noStrike" cap="none">
              <a:solidFill>
                <a:schemeClr val="dk1"/>
              </a:solidFill>
              <a:latin typeface="Calibri"/>
              <a:ea typeface="Calibri"/>
              <a:cs typeface="Calibri"/>
              <a:sym typeface="Calibri"/>
            </a:endParaRPr>
          </a:p>
        </p:txBody>
      </p:sp>
      <p:grpSp>
        <p:nvGrpSpPr>
          <p:cNvPr id="17" name="Google Shape;17;p23"/>
          <p:cNvGrpSpPr/>
          <p:nvPr/>
        </p:nvGrpSpPr>
        <p:grpSpPr>
          <a:xfrm>
            <a:off x="2" y="6814800"/>
            <a:ext cx="12179567" cy="43200"/>
            <a:chOff x="0" y="5111100"/>
            <a:chExt cx="9134675" cy="32400"/>
          </a:xfrm>
        </p:grpSpPr>
        <p:sp>
          <p:nvSpPr>
            <p:cNvPr id="18" name="Google Shape;18;p23"/>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9" name="Google Shape;19;p23"/>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20" name="Google Shape;20;p23"/>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21" name="Google Shape;21;p23"/>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22" name="Google Shape;22;p23"/>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23" name="Google Shape;23;p23"/>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grpSp>
      <p:sp>
        <p:nvSpPr>
          <p:cNvPr id="24" name="Google Shape;24;p23"/>
          <p:cNvSpPr txBox="1">
            <a:spLocks noGrp="1"/>
          </p:cNvSpPr>
          <p:nvPr>
            <p:ph type="body" idx="1"/>
          </p:nvPr>
        </p:nvSpPr>
        <p:spPr>
          <a:xfrm>
            <a:off x="527051" y="496800"/>
            <a:ext cx="11137900" cy="611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2000"/>
              <a:buFont typeface="Poppins Medium"/>
              <a:buNone/>
              <a:defRPr sz="2200" b="0" i="0" u="none" strike="noStrike" cap="none">
                <a:solidFill>
                  <a:schemeClr val="dk1"/>
                </a:solidFill>
                <a:latin typeface="Poppins Medium"/>
                <a:ea typeface="Poppins Medium"/>
                <a:cs typeface="Poppins Medium"/>
                <a:sym typeface="Poppins Medium"/>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5pPr>
            <a:lvl6pPr marL="2743200" lvl="5" indent="-342963" algn="l">
              <a:lnSpc>
                <a:spcPct val="90000"/>
              </a:lnSpc>
              <a:spcBef>
                <a:spcPts val="500"/>
              </a:spcBef>
              <a:spcAft>
                <a:spcPts val="0"/>
              </a:spcAft>
              <a:buSzPts val="1801"/>
              <a:buChar char="•"/>
              <a:defRPr/>
            </a:lvl6pPr>
            <a:lvl7pPr marL="3200400" lvl="6" indent="-342963" algn="l">
              <a:lnSpc>
                <a:spcPct val="90000"/>
              </a:lnSpc>
              <a:spcBef>
                <a:spcPts val="500"/>
              </a:spcBef>
              <a:spcAft>
                <a:spcPts val="0"/>
              </a:spcAft>
              <a:buSzPts val="1801"/>
              <a:buChar char="•"/>
              <a:defRPr/>
            </a:lvl7pPr>
            <a:lvl8pPr marL="3657600" lvl="7" indent="-342963" algn="l">
              <a:lnSpc>
                <a:spcPct val="90000"/>
              </a:lnSpc>
              <a:spcBef>
                <a:spcPts val="500"/>
              </a:spcBef>
              <a:spcAft>
                <a:spcPts val="0"/>
              </a:spcAft>
              <a:buSzPts val="1801"/>
              <a:buChar char="•"/>
              <a:defRPr/>
            </a:lvl8pPr>
            <a:lvl9pPr marL="4114800" lvl="8" indent="-342963" algn="l">
              <a:lnSpc>
                <a:spcPct val="90000"/>
              </a:lnSpc>
              <a:spcBef>
                <a:spcPts val="500"/>
              </a:spcBef>
              <a:spcAft>
                <a:spcPts val="0"/>
              </a:spcAft>
              <a:buSzPts val="1801"/>
              <a:buChar char="•"/>
              <a:defRPr/>
            </a:lvl9pPr>
          </a:lstStyle>
          <a:p>
            <a:endParaRPr/>
          </a:p>
        </p:txBody>
      </p:sp>
    </p:spTree>
  </p:cSld>
  <p:clrMapOvr>
    <a:masterClrMapping/>
  </p:clrMapOvr>
  <p:extLst>
    <p:ext uri="{DCECCB84-F9BA-43D5-87BE-67443E8EF086}">
      <p15:sldGuideLst xmlns:p15="http://schemas.microsoft.com/office/powerpoint/2012/main">
        <p15:guide id="1" orient="horz" pos="709">
          <p15:clr>
            <a:srgbClr val="FBAE40"/>
          </p15:clr>
        </p15:guide>
        <p15:guide id="2" pos="325">
          <p15:clr>
            <a:srgbClr val="FBAE40"/>
          </p15:clr>
        </p15:guide>
        <p15:guide id="3" pos="7355">
          <p15:clr>
            <a:srgbClr val="FBAE40"/>
          </p15:clr>
        </p15:guide>
        <p15:guide id="4"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6_Title Only" type="tx">
  <p:cSld name="TITLE_AND_BODY">
    <p:spTree>
      <p:nvGrpSpPr>
        <p:cNvPr id="1" name="Shape 47"/>
        <p:cNvGrpSpPr/>
        <p:nvPr/>
      </p:nvGrpSpPr>
      <p:grpSpPr>
        <a:xfrm>
          <a:off x="0" y="0"/>
          <a:ext cx="0" cy="0"/>
          <a:chOff x="0" y="0"/>
          <a:chExt cx="0" cy="0"/>
        </a:xfrm>
      </p:grpSpPr>
      <p:sp>
        <p:nvSpPr>
          <p:cNvPr id="48" name="Google Shape;48;p197"/>
          <p:cNvSpPr txBox="1">
            <a:spLocks noGrp="1"/>
          </p:cNvSpPr>
          <p:nvPr>
            <p:ph type="body" idx="1"/>
          </p:nvPr>
        </p:nvSpPr>
        <p:spPr>
          <a:xfrm>
            <a:off x="554166" y="496800"/>
            <a:ext cx="10404780" cy="61160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chemeClr val="dk1"/>
              </a:buClr>
              <a:buSzPts val="2200"/>
              <a:buFont typeface="Poppins Medium"/>
              <a:buNone/>
              <a:defRPr sz="2200">
                <a:latin typeface="Poppins Medium"/>
                <a:ea typeface="Poppins Medium"/>
                <a:cs typeface="Poppins Medium"/>
                <a:sym typeface="Poppins Medium"/>
              </a:defRPr>
            </a:lvl1pPr>
            <a:lvl2pPr marL="914400" lvl="1" indent="-228600" algn="l">
              <a:lnSpc>
                <a:spcPct val="100000"/>
              </a:lnSpc>
              <a:spcBef>
                <a:spcPts val="0"/>
              </a:spcBef>
              <a:spcAft>
                <a:spcPts val="0"/>
              </a:spcAft>
              <a:buClr>
                <a:schemeClr val="dk1"/>
              </a:buClr>
              <a:buSzPts val="2200"/>
              <a:buFont typeface="Poppins Medium"/>
              <a:buNone/>
              <a:defRPr sz="2200">
                <a:latin typeface="Poppins Medium"/>
                <a:ea typeface="Poppins Medium"/>
                <a:cs typeface="Poppins Medium"/>
                <a:sym typeface="Poppins Medium"/>
              </a:defRPr>
            </a:lvl2pPr>
            <a:lvl3pPr marL="1371600" lvl="2" indent="-228600" algn="l">
              <a:lnSpc>
                <a:spcPct val="100000"/>
              </a:lnSpc>
              <a:spcBef>
                <a:spcPts val="0"/>
              </a:spcBef>
              <a:spcAft>
                <a:spcPts val="0"/>
              </a:spcAft>
              <a:buClr>
                <a:schemeClr val="dk1"/>
              </a:buClr>
              <a:buSzPts val="2200"/>
              <a:buFont typeface="Poppins Medium"/>
              <a:buNone/>
              <a:defRPr sz="2200">
                <a:latin typeface="Poppins Medium"/>
                <a:ea typeface="Poppins Medium"/>
                <a:cs typeface="Poppins Medium"/>
                <a:sym typeface="Poppins Medium"/>
              </a:defRPr>
            </a:lvl3pPr>
            <a:lvl4pPr marL="1828800" lvl="3" indent="-228600" algn="l">
              <a:lnSpc>
                <a:spcPct val="100000"/>
              </a:lnSpc>
              <a:spcBef>
                <a:spcPts val="0"/>
              </a:spcBef>
              <a:spcAft>
                <a:spcPts val="0"/>
              </a:spcAft>
              <a:buClr>
                <a:schemeClr val="dk1"/>
              </a:buClr>
              <a:buSzPts val="2200"/>
              <a:buFont typeface="Poppins Medium"/>
              <a:buNone/>
              <a:defRPr sz="2200">
                <a:latin typeface="Poppins Medium"/>
                <a:ea typeface="Poppins Medium"/>
                <a:cs typeface="Poppins Medium"/>
                <a:sym typeface="Poppins Medium"/>
              </a:defRPr>
            </a:lvl4pPr>
            <a:lvl5pPr marL="2286000" lvl="4" indent="-228600" algn="l">
              <a:lnSpc>
                <a:spcPct val="100000"/>
              </a:lnSpc>
              <a:spcBef>
                <a:spcPts val="0"/>
              </a:spcBef>
              <a:spcAft>
                <a:spcPts val="0"/>
              </a:spcAft>
              <a:buClr>
                <a:schemeClr val="dk1"/>
              </a:buClr>
              <a:buSzPts val="2200"/>
              <a:buFont typeface="Poppins Medium"/>
              <a:buNone/>
              <a:defRPr sz="2200">
                <a:latin typeface="Poppins Medium"/>
                <a:ea typeface="Poppins Medium"/>
                <a:cs typeface="Poppins Medium"/>
                <a:sym typeface="Poppins Medium"/>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49" name="Google Shape;49;p197"/>
          <p:cNvSpPr txBox="1">
            <a:spLocks noGrp="1"/>
          </p:cNvSpPr>
          <p:nvPr>
            <p:ph type="sldNum" idx="12"/>
          </p:nvPr>
        </p:nvSpPr>
        <p:spPr>
          <a:xfrm>
            <a:off x="11968831" y="6584383"/>
            <a:ext cx="128564" cy="127001"/>
          </a:xfrm>
          <a:prstGeom prst="rect">
            <a:avLst/>
          </a:prstGeom>
          <a:noFill/>
          <a:ln>
            <a:noFill/>
          </a:ln>
        </p:spPr>
        <p:txBody>
          <a:bodyPr spcFirstLastPara="1" wrap="square" lIns="0" tIns="0" rIns="0" bIns="0" anchor="t" anchorCtr="0">
            <a:noAutofit/>
          </a:bodyPr>
          <a:lstStyle>
            <a:lvl1pPr marL="0" marR="0" lvl="0" indent="0" algn="l" rtl="0">
              <a:lnSpc>
                <a:spcPct val="100000"/>
              </a:lnSpc>
              <a:spcBef>
                <a:spcPts val="0"/>
              </a:spcBef>
              <a:spcAft>
                <a:spcPts val="0"/>
              </a:spcAft>
              <a:buClr>
                <a:srgbClr val="000000"/>
              </a:buClr>
              <a:buSzPts val="900"/>
              <a:buFont typeface="Calibri"/>
              <a:buNone/>
              <a:defRPr sz="9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900"/>
              <a:buFont typeface="Calibri"/>
              <a:buNone/>
              <a:defRPr sz="9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900"/>
              <a:buFont typeface="Calibri"/>
              <a:buNone/>
              <a:defRPr sz="9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900"/>
              <a:buFont typeface="Calibri"/>
              <a:buNone/>
              <a:defRPr sz="9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900"/>
              <a:buFont typeface="Calibri"/>
              <a:buNone/>
              <a:defRPr sz="9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900"/>
              <a:buFont typeface="Calibri"/>
              <a:buNone/>
              <a:defRPr sz="9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900"/>
              <a:buFont typeface="Calibri"/>
              <a:buNone/>
              <a:defRPr sz="9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900"/>
              <a:buFont typeface="Calibri"/>
              <a:buNone/>
              <a:defRPr sz="9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900"/>
              <a:buFont typeface="Calibri"/>
              <a:buNone/>
              <a:defRPr sz="9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50" name="Google Shape;50;p197"/>
          <p:cNvSpPr/>
          <p:nvPr/>
        </p:nvSpPr>
        <p:spPr>
          <a:xfrm>
            <a:off x="4" y="3"/>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67"/>
              <a:buFont typeface="Arial"/>
              <a:buNone/>
            </a:pPr>
            <a:endParaRPr sz="1867" b="0" i="0" u="none" strike="noStrike" cap="none">
              <a:solidFill>
                <a:schemeClr val="dk1"/>
              </a:solidFill>
              <a:latin typeface="Calibri"/>
              <a:ea typeface="Calibri"/>
              <a:cs typeface="Calibri"/>
              <a:sym typeface="Calibri"/>
            </a:endParaRPr>
          </a:p>
        </p:txBody>
      </p:sp>
      <p:sp>
        <p:nvSpPr>
          <p:cNvPr id="51" name="Google Shape;51;p197"/>
          <p:cNvSpPr/>
          <p:nvPr/>
        </p:nvSpPr>
        <p:spPr>
          <a:xfrm>
            <a:off x="3" y="3"/>
            <a:ext cx="403374"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67"/>
              <a:buFont typeface="Arial"/>
              <a:buNone/>
            </a:pPr>
            <a:endParaRPr sz="1867" b="0" i="0" u="none" strike="noStrike" cap="none">
              <a:solidFill>
                <a:schemeClr val="dk1"/>
              </a:solidFill>
              <a:latin typeface="Calibri"/>
              <a:ea typeface="Calibri"/>
              <a:cs typeface="Calibri"/>
              <a:sym typeface="Calibri"/>
            </a:endParaRPr>
          </a:p>
        </p:txBody>
      </p:sp>
      <p:sp>
        <p:nvSpPr>
          <p:cNvPr id="52" name="Google Shape;52;p197"/>
          <p:cNvSpPr/>
          <p:nvPr/>
        </p:nvSpPr>
        <p:spPr>
          <a:xfrm>
            <a:off x="11792594"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chemeClr val="dk1"/>
                </a:solidFill>
                <a:latin typeface="Calibri"/>
                <a:ea typeface="Calibri"/>
                <a:cs typeface="Calibri"/>
                <a:sym typeface="Calibri"/>
              </a:rPr>
              <a:t>‹#›</a:t>
            </a:fld>
            <a:endParaRPr sz="900" b="0" i="0" u="none" strike="noStrike" cap="none">
              <a:solidFill>
                <a:schemeClr val="dk1"/>
              </a:solidFill>
              <a:latin typeface="Calibri"/>
              <a:ea typeface="Calibri"/>
              <a:cs typeface="Calibri"/>
              <a:sym typeface="Calibri"/>
            </a:endParaRPr>
          </a:p>
        </p:txBody>
      </p:sp>
      <p:grpSp>
        <p:nvGrpSpPr>
          <p:cNvPr id="53" name="Google Shape;53;p197"/>
          <p:cNvGrpSpPr/>
          <p:nvPr/>
        </p:nvGrpSpPr>
        <p:grpSpPr>
          <a:xfrm>
            <a:off x="1" y="6814800"/>
            <a:ext cx="12179567" cy="43200"/>
            <a:chOff x="0" y="5111100"/>
            <a:chExt cx="9134675" cy="32400"/>
          </a:xfrm>
        </p:grpSpPr>
        <p:sp>
          <p:nvSpPr>
            <p:cNvPr id="54" name="Google Shape;54;p197"/>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55" name="Google Shape;55;p197"/>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56" name="Google Shape;56;p197"/>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57" name="Google Shape;57;p197"/>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58" name="Google Shape;58;p197"/>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59" name="Google Shape;59;p197"/>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Only">
  <p:cSld name="2_Title Only">
    <p:spTree>
      <p:nvGrpSpPr>
        <p:cNvPr id="1" name="Shape 60"/>
        <p:cNvGrpSpPr/>
        <p:nvPr/>
      </p:nvGrpSpPr>
      <p:grpSpPr>
        <a:xfrm>
          <a:off x="0" y="0"/>
          <a:ext cx="0" cy="0"/>
          <a:chOff x="0" y="0"/>
          <a:chExt cx="0" cy="0"/>
        </a:xfrm>
      </p:grpSpPr>
      <p:sp>
        <p:nvSpPr>
          <p:cNvPr id="61" name="Google Shape;61;p69"/>
          <p:cNvSpPr/>
          <p:nvPr/>
        </p:nvSpPr>
        <p:spPr>
          <a:xfrm>
            <a:off x="6" y="5"/>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67"/>
              <a:buFont typeface="Arial"/>
              <a:buNone/>
            </a:pPr>
            <a:endParaRPr sz="1867" b="0" i="0" u="none" strike="noStrike" cap="none">
              <a:solidFill>
                <a:schemeClr val="dk1"/>
              </a:solidFill>
              <a:latin typeface="Calibri"/>
              <a:ea typeface="Calibri"/>
              <a:cs typeface="Calibri"/>
              <a:sym typeface="Calibri"/>
            </a:endParaRPr>
          </a:p>
        </p:txBody>
      </p:sp>
      <p:sp>
        <p:nvSpPr>
          <p:cNvPr id="62" name="Google Shape;62;p69"/>
          <p:cNvSpPr/>
          <p:nvPr/>
        </p:nvSpPr>
        <p:spPr>
          <a:xfrm>
            <a:off x="3" y="4"/>
            <a:ext cx="403375"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67"/>
              <a:buFont typeface="Arial"/>
              <a:buNone/>
            </a:pPr>
            <a:endParaRPr sz="1867" b="0" i="0" u="none" strike="noStrike" cap="none">
              <a:solidFill>
                <a:schemeClr val="dk1"/>
              </a:solidFill>
              <a:latin typeface="Calibri"/>
              <a:ea typeface="Calibri"/>
              <a:cs typeface="Calibri"/>
              <a:sym typeface="Calibri"/>
            </a:endParaRPr>
          </a:p>
        </p:txBody>
      </p:sp>
      <p:sp>
        <p:nvSpPr>
          <p:cNvPr id="63" name="Google Shape;63;p69"/>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chemeClr val="dk1"/>
                </a:solidFill>
                <a:latin typeface="Calibri"/>
                <a:ea typeface="Calibri"/>
                <a:cs typeface="Calibri"/>
                <a:sym typeface="Calibri"/>
              </a:rPr>
              <a:t>‹#›</a:t>
            </a:fld>
            <a:endParaRPr sz="900" b="0" i="0" u="none" strike="noStrike" cap="none">
              <a:solidFill>
                <a:schemeClr val="dk1"/>
              </a:solidFill>
              <a:latin typeface="Calibri"/>
              <a:ea typeface="Calibri"/>
              <a:cs typeface="Calibri"/>
              <a:sym typeface="Calibri"/>
            </a:endParaRPr>
          </a:p>
        </p:txBody>
      </p:sp>
      <p:grpSp>
        <p:nvGrpSpPr>
          <p:cNvPr id="64" name="Google Shape;64;p69"/>
          <p:cNvGrpSpPr/>
          <p:nvPr/>
        </p:nvGrpSpPr>
        <p:grpSpPr>
          <a:xfrm>
            <a:off x="2" y="6814800"/>
            <a:ext cx="12179567" cy="43200"/>
            <a:chOff x="0" y="5111100"/>
            <a:chExt cx="9134675" cy="32400"/>
          </a:xfrm>
        </p:grpSpPr>
        <p:sp>
          <p:nvSpPr>
            <p:cNvPr id="65" name="Google Shape;65;p69"/>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66" name="Google Shape;66;p69"/>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67" name="Google Shape;67;p69"/>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68" name="Google Shape;68;p69"/>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69" name="Google Shape;69;p69"/>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70" name="Google Shape;70;p69"/>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grpSp>
      <p:sp>
        <p:nvSpPr>
          <p:cNvPr id="71" name="Google Shape;71;p69"/>
          <p:cNvSpPr txBox="1">
            <a:spLocks noGrp="1"/>
          </p:cNvSpPr>
          <p:nvPr>
            <p:ph type="body" idx="1"/>
          </p:nvPr>
        </p:nvSpPr>
        <p:spPr>
          <a:xfrm>
            <a:off x="527051" y="496800"/>
            <a:ext cx="11137900" cy="611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2000"/>
              <a:buFont typeface="Poppins Medium"/>
              <a:buNone/>
              <a:defRPr sz="2200" b="0" i="0" u="none" strike="noStrike" cap="none">
                <a:solidFill>
                  <a:schemeClr val="dk1"/>
                </a:solidFill>
                <a:latin typeface="Poppins Medium"/>
                <a:ea typeface="Poppins Medium"/>
                <a:cs typeface="Poppins Medium"/>
                <a:sym typeface="Poppins Medium"/>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5pPr>
            <a:lvl6pPr marL="2743200" lvl="5" indent="-342963" algn="l">
              <a:lnSpc>
                <a:spcPct val="90000"/>
              </a:lnSpc>
              <a:spcBef>
                <a:spcPts val="500"/>
              </a:spcBef>
              <a:spcAft>
                <a:spcPts val="0"/>
              </a:spcAft>
              <a:buSzPts val="1801"/>
              <a:buChar char="•"/>
              <a:defRPr/>
            </a:lvl6pPr>
            <a:lvl7pPr marL="3200400" lvl="6" indent="-342963" algn="l">
              <a:lnSpc>
                <a:spcPct val="90000"/>
              </a:lnSpc>
              <a:spcBef>
                <a:spcPts val="500"/>
              </a:spcBef>
              <a:spcAft>
                <a:spcPts val="0"/>
              </a:spcAft>
              <a:buSzPts val="1801"/>
              <a:buChar char="•"/>
              <a:defRPr/>
            </a:lvl7pPr>
            <a:lvl8pPr marL="3657600" lvl="7" indent="-342963" algn="l">
              <a:lnSpc>
                <a:spcPct val="90000"/>
              </a:lnSpc>
              <a:spcBef>
                <a:spcPts val="500"/>
              </a:spcBef>
              <a:spcAft>
                <a:spcPts val="0"/>
              </a:spcAft>
              <a:buSzPts val="1801"/>
              <a:buChar char="•"/>
              <a:defRPr/>
            </a:lvl8pPr>
            <a:lvl9pPr marL="4114800" lvl="8" indent="-342963" algn="l">
              <a:lnSpc>
                <a:spcPct val="90000"/>
              </a:lnSpc>
              <a:spcBef>
                <a:spcPts val="500"/>
              </a:spcBef>
              <a:spcAft>
                <a:spcPts val="0"/>
              </a:spcAft>
              <a:buSzPts val="1801"/>
              <a:buChar char="•"/>
              <a:defRPr/>
            </a:lvl9pPr>
          </a:lstStyle>
          <a:p>
            <a:endParaRPr/>
          </a:p>
        </p:txBody>
      </p:sp>
    </p:spTree>
  </p:cSld>
  <p:clrMapOvr>
    <a:masterClrMapping/>
  </p:clrMapOvr>
  <p:extLst>
    <p:ext uri="{DCECCB84-F9BA-43D5-87BE-67443E8EF086}">
      <p15:sldGuideLst xmlns:p15="http://schemas.microsoft.com/office/powerpoint/2012/main">
        <p15:guide id="1" orient="horz" pos="709">
          <p15:clr>
            <a:srgbClr val="FBAE40"/>
          </p15:clr>
        </p15:guide>
        <p15:guide id="2" pos="325">
          <p15:clr>
            <a:srgbClr val="FBAE40"/>
          </p15:clr>
        </p15:guide>
        <p15:guide id="3" pos="7355">
          <p15:clr>
            <a:srgbClr val="FBAE40"/>
          </p15:clr>
        </p15:guide>
        <p15:guide id="4"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bout Us">
  <p:cSld name="About Us">
    <p:spTree>
      <p:nvGrpSpPr>
        <p:cNvPr id="1" name="Shape 72"/>
        <p:cNvGrpSpPr/>
        <p:nvPr/>
      </p:nvGrpSpPr>
      <p:grpSpPr>
        <a:xfrm>
          <a:off x="0" y="0"/>
          <a:ext cx="0" cy="0"/>
          <a:chOff x="0" y="0"/>
          <a:chExt cx="0" cy="0"/>
        </a:xfrm>
      </p:grpSpPr>
      <p:grpSp>
        <p:nvGrpSpPr>
          <p:cNvPr id="73" name="Google Shape;73;p72"/>
          <p:cNvGrpSpPr/>
          <p:nvPr/>
        </p:nvGrpSpPr>
        <p:grpSpPr>
          <a:xfrm>
            <a:off x="4528066" y="4611735"/>
            <a:ext cx="2317600" cy="639163"/>
            <a:chOff x="5219700" y="3382600"/>
            <a:chExt cx="1738200" cy="479372"/>
          </a:xfrm>
        </p:grpSpPr>
        <p:sp>
          <p:nvSpPr>
            <p:cNvPr id="74" name="Google Shape;74;p72">
              <a:hlinkClick r:id="rId2"/>
            </p:cNvPr>
            <p:cNvSpPr/>
            <p:nvPr/>
          </p:nvSpPr>
          <p:spPr>
            <a:xfrm>
              <a:off x="5219700" y="3382600"/>
              <a:ext cx="1738200" cy="124500"/>
            </a:xfrm>
            <a:prstGeom prst="rect">
              <a:avLst/>
            </a:prstGeom>
            <a:noFill/>
            <a:ln>
              <a:noFill/>
            </a:ln>
          </p:spPr>
          <p:txBody>
            <a:bodyPr spcFirstLastPara="1" wrap="square" lIns="0" tIns="0" rIns="0" bIns="0" anchor="b" anchorCtr="0">
              <a:noAutofit/>
            </a:bodyPr>
            <a:lstStyle/>
            <a:p>
              <a:pPr marL="0" marR="0" lvl="0" indent="0" algn="l" rtl="0">
                <a:lnSpc>
                  <a:spcPct val="150000"/>
                </a:lnSpc>
                <a:spcBef>
                  <a:spcPts val="0"/>
                </a:spcBef>
                <a:spcAft>
                  <a:spcPts val="0"/>
                </a:spcAft>
                <a:buClr>
                  <a:srgbClr val="5B5B5B"/>
                </a:buClr>
                <a:buSzPts val="1200"/>
                <a:buFont typeface="Trebuchet MS"/>
                <a:buNone/>
              </a:pPr>
              <a:r>
                <a:rPr lang="en-US" sz="1600" b="1" i="0" u="none" strike="noStrike" cap="none">
                  <a:solidFill>
                    <a:schemeClr val="dk2"/>
                  </a:solidFill>
                  <a:latin typeface="Calibri"/>
                  <a:ea typeface="Calibri"/>
                  <a:cs typeface="Calibri"/>
                  <a:sym typeface="Calibri"/>
                </a:rPr>
                <a:t>www.tigeranalytics.com</a:t>
              </a:r>
              <a:endParaRPr sz="1467" b="1" i="0" u="none" strike="noStrike" cap="none">
                <a:solidFill>
                  <a:schemeClr val="dk2"/>
                </a:solidFill>
                <a:latin typeface="Calibri"/>
                <a:ea typeface="Calibri"/>
                <a:cs typeface="Calibri"/>
                <a:sym typeface="Calibri"/>
              </a:endParaRPr>
            </a:p>
          </p:txBody>
        </p:sp>
        <p:sp>
          <p:nvSpPr>
            <p:cNvPr id="75" name="Google Shape;75;p72">
              <a:hlinkClick r:id="rId3"/>
            </p:cNvPr>
            <p:cNvSpPr/>
            <p:nvPr/>
          </p:nvSpPr>
          <p:spPr>
            <a:xfrm>
              <a:off x="5854340" y="3618972"/>
              <a:ext cx="243000" cy="243000"/>
            </a:xfrm>
            <a:prstGeom prst="ellipse">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2400"/>
                <a:buFont typeface="Calibri"/>
                <a:buNone/>
              </a:pPr>
              <a:endParaRPr sz="2400" b="0" i="0" u="none" strike="noStrike" cap="none">
                <a:solidFill>
                  <a:srgbClr val="646464"/>
                </a:solidFill>
                <a:latin typeface="Calibri"/>
                <a:ea typeface="Calibri"/>
                <a:cs typeface="Calibri"/>
                <a:sym typeface="Calibri"/>
              </a:endParaRPr>
            </a:p>
          </p:txBody>
        </p:sp>
        <p:sp>
          <p:nvSpPr>
            <p:cNvPr id="76" name="Google Shape;76;p72">
              <a:hlinkClick r:id="rId3"/>
            </p:cNvPr>
            <p:cNvSpPr/>
            <p:nvPr/>
          </p:nvSpPr>
          <p:spPr>
            <a:xfrm>
              <a:off x="5912378" y="3677018"/>
              <a:ext cx="126016" cy="126000"/>
            </a:xfrm>
            <a:custGeom>
              <a:avLst/>
              <a:gdLst/>
              <a:ahLst/>
              <a:cxnLst/>
              <a:rect l="l" t="t" r="r" b="b"/>
              <a:pathLst>
                <a:path w="3600450" h="3600000" extrusionOk="0">
                  <a:moveTo>
                    <a:pt x="2443351" y="598336"/>
                  </a:moveTo>
                  <a:cubicBezTo>
                    <a:pt x="2344604" y="591283"/>
                    <a:pt x="2247735" y="605917"/>
                    <a:pt x="2175442" y="640945"/>
                  </a:cubicBezTo>
                  <a:cubicBezTo>
                    <a:pt x="1896180" y="785483"/>
                    <a:pt x="1772372" y="991259"/>
                    <a:pt x="1822862" y="1347778"/>
                  </a:cubicBezTo>
                  <a:cubicBezTo>
                    <a:pt x="1368677" y="1358195"/>
                    <a:pt x="773170" y="1076549"/>
                    <a:pt x="573365" y="710108"/>
                  </a:cubicBezTo>
                  <a:cubicBezTo>
                    <a:pt x="385362" y="875792"/>
                    <a:pt x="470466" y="1411198"/>
                    <a:pt x="774927" y="1531630"/>
                  </a:cubicBezTo>
                  <a:cubicBezTo>
                    <a:pt x="636580" y="1529584"/>
                    <a:pt x="591043" y="1502544"/>
                    <a:pt x="454598" y="1456258"/>
                  </a:cubicBezTo>
                  <a:cubicBezTo>
                    <a:pt x="501872" y="1904597"/>
                    <a:pt x="763983" y="1980208"/>
                    <a:pt x="973777" y="2064155"/>
                  </a:cubicBezTo>
                  <a:cubicBezTo>
                    <a:pt x="852534" y="2142597"/>
                    <a:pt x="745426" y="2079715"/>
                    <a:pt x="666580" y="2073364"/>
                  </a:cubicBezTo>
                  <a:cubicBezTo>
                    <a:pt x="760010" y="2372399"/>
                    <a:pt x="1073128" y="2490107"/>
                    <a:pt x="1270553" y="2449863"/>
                  </a:cubicBezTo>
                  <a:cubicBezTo>
                    <a:pt x="1134133" y="2645905"/>
                    <a:pt x="923075" y="2722647"/>
                    <a:pt x="376665" y="2759915"/>
                  </a:cubicBezTo>
                  <a:cubicBezTo>
                    <a:pt x="684120" y="2913251"/>
                    <a:pt x="911493" y="3028902"/>
                    <a:pt x="1355560" y="2998518"/>
                  </a:cubicBezTo>
                  <a:cubicBezTo>
                    <a:pt x="1849783" y="2992786"/>
                    <a:pt x="2282768" y="2746806"/>
                    <a:pt x="2447240" y="2585619"/>
                  </a:cubicBezTo>
                  <a:cubicBezTo>
                    <a:pt x="2693768" y="2358293"/>
                    <a:pt x="3006247" y="1801218"/>
                    <a:pt x="3003106" y="1197035"/>
                  </a:cubicBezTo>
                  <a:lnTo>
                    <a:pt x="3317867" y="907530"/>
                  </a:lnTo>
                  <a:lnTo>
                    <a:pt x="2965917" y="984828"/>
                  </a:lnTo>
                  <a:lnTo>
                    <a:pt x="3242424" y="653580"/>
                  </a:lnTo>
                  <a:cubicBezTo>
                    <a:pt x="3178746" y="675623"/>
                    <a:pt x="3001926" y="754111"/>
                    <a:pt x="2847650" y="820309"/>
                  </a:cubicBezTo>
                  <a:cubicBezTo>
                    <a:pt x="2777725" y="682087"/>
                    <a:pt x="2607930" y="610091"/>
                    <a:pt x="2443351" y="598336"/>
                  </a:cubicBezTo>
                  <a:close/>
                  <a:moveTo>
                    <a:pt x="353268" y="0"/>
                  </a:moveTo>
                  <a:lnTo>
                    <a:pt x="3247182" y="0"/>
                  </a:lnTo>
                  <a:cubicBezTo>
                    <a:pt x="3442287" y="0"/>
                    <a:pt x="3600450" y="158163"/>
                    <a:pt x="3600450" y="353268"/>
                  </a:cubicBezTo>
                  <a:lnTo>
                    <a:pt x="3600450" y="3246732"/>
                  </a:lnTo>
                  <a:cubicBezTo>
                    <a:pt x="3600450" y="3441837"/>
                    <a:pt x="3442287" y="3600000"/>
                    <a:pt x="3247182" y="3600000"/>
                  </a:cubicBezTo>
                  <a:lnTo>
                    <a:pt x="353268" y="3600000"/>
                  </a:lnTo>
                  <a:cubicBezTo>
                    <a:pt x="158163" y="3600000"/>
                    <a:pt x="0" y="3441837"/>
                    <a:pt x="0" y="3246732"/>
                  </a:cubicBezTo>
                  <a:lnTo>
                    <a:pt x="0" y="353268"/>
                  </a:lnTo>
                  <a:cubicBezTo>
                    <a:pt x="0" y="158163"/>
                    <a:pt x="158163" y="0"/>
                    <a:pt x="353268"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646464"/>
                </a:solidFill>
                <a:latin typeface="Calibri"/>
                <a:ea typeface="Calibri"/>
                <a:cs typeface="Calibri"/>
                <a:sym typeface="Calibri"/>
              </a:endParaRPr>
            </a:p>
          </p:txBody>
        </p:sp>
        <p:sp>
          <p:nvSpPr>
            <p:cNvPr id="77" name="Google Shape;77;p72">
              <a:hlinkClick r:id="rId4"/>
            </p:cNvPr>
            <p:cNvSpPr/>
            <p:nvPr/>
          </p:nvSpPr>
          <p:spPr>
            <a:xfrm>
              <a:off x="5537020" y="3618972"/>
              <a:ext cx="243000" cy="243000"/>
            </a:xfrm>
            <a:prstGeom prst="ellipse">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2400"/>
                <a:buFont typeface="Calibri"/>
                <a:buNone/>
              </a:pPr>
              <a:endParaRPr sz="2400" b="0" i="0" u="none" strike="noStrike" cap="none">
                <a:solidFill>
                  <a:srgbClr val="646464"/>
                </a:solidFill>
                <a:latin typeface="Calibri"/>
                <a:ea typeface="Calibri"/>
                <a:cs typeface="Calibri"/>
                <a:sym typeface="Calibri"/>
              </a:endParaRPr>
            </a:p>
          </p:txBody>
        </p:sp>
        <p:sp>
          <p:nvSpPr>
            <p:cNvPr id="78" name="Google Shape;78;p72">
              <a:hlinkClick r:id="rId4"/>
            </p:cNvPr>
            <p:cNvSpPr/>
            <p:nvPr/>
          </p:nvSpPr>
          <p:spPr>
            <a:xfrm>
              <a:off x="5596498" y="3678451"/>
              <a:ext cx="119175" cy="119175"/>
            </a:xfrm>
            <a:custGeom>
              <a:avLst/>
              <a:gdLst/>
              <a:ahLst/>
              <a:cxnLst/>
              <a:rect l="l" t="t" r="r" b="b"/>
              <a:pathLst>
                <a:path w="4333647" h="4333647" extrusionOk="0">
                  <a:moveTo>
                    <a:pt x="937082" y="1651039"/>
                  </a:moveTo>
                  <a:lnTo>
                    <a:pt x="937082" y="3354087"/>
                  </a:lnTo>
                  <a:lnTo>
                    <a:pt x="1469284" y="3354087"/>
                  </a:lnTo>
                  <a:lnTo>
                    <a:pt x="1469284" y="1651039"/>
                  </a:lnTo>
                  <a:lnTo>
                    <a:pt x="937082" y="1651039"/>
                  </a:lnTo>
                  <a:close/>
                  <a:moveTo>
                    <a:pt x="2832769" y="1616621"/>
                  </a:moveTo>
                  <a:cubicBezTo>
                    <a:pt x="2664206" y="1616621"/>
                    <a:pt x="2516100" y="1654237"/>
                    <a:pt x="2405635" y="1758689"/>
                  </a:cubicBezTo>
                  <a:lnTo>
                    <a:pt x="2304094" y="1865710"/>
                  </a:lnTo>
                  <a:cubicBezTo>
                    <a:pt x="2300124" y="1749259"/>
                    <a:pt x="2300919" y="1715091"/>
                    <a:pt x="2299331" y="1651027"/>
                  </a:cubicBezTo>
                  <a:lnTo>
                    <a:pt x="1795366" y="1651027"/>
                  </a:lnTo>
                  <a:lnTo>
                    <a:pt x="1795366" y="3353420"/>
                  </a:lnTo>
                  <a:lnTo>
                    <a:pt x="2318381" y="3353150"/>
                  </a:lnTo>
                  <a:cubicBezTo>
                    <a:pt x="2319884" y="3034704"/>
                    <a:pt x="2319075" y="2716239"/>
                    <a:pt x="2322890" y="2397812"/>
                  </a:cubicBezTo>
                  <a:cubicBezTo>
                    <a:pt x="2327866" y="1982497"/>
                    <a:pt x="2877210" y="1989236"/>
                    <a:pt x="2899974" y="2349718"/>
                  </a:cubicBezTo>
                  <a:lnTo>
                    <a:pt x="2911179" y="3350999"/>
                  </a:lnTo>
                  <a:lnTo>
                    <a:pt x="3434195" y="3348350"/>
                  </a:lnTo>
                  <a:cubicBezTo>
                    <a:pt x="3431814" y="2937575"/>
                    <a:pt x="3427581" y="2508785"/>
                    <a:pt x="3418056" y="2102772"/>
                  </a:cubicBezTo>
                  <a:cubicBezTo>
                    <a:pt x="3334312" y="1659711"/>
                    <a:pt x="3010503" y="1642480"/>
                    <a:pt x="2832769" y="1616621"/>
                  </a:cubicBezTo>
                  <a:close/>
                  <a:moveTo>
                    <a:pt x="1203183" y="812039"/>
                  </a:moveTo>
                  <a:cubicBezTo>
                    <a:pt x="1035222" y="812039"/>
                    <a:pt x="899067" y="948195"/>
                    <a:pt x="899067" y="1116155"/>
                  </a:cubicBezTo>
                  <a:cubicBezTo>
                    <a:pt x="899067" y="1284116"/>
                    <a:pt x="1035222" y="1420271"/>
                    <a:pt x="1203183" y="1420271"/>
                  </a:cubicBezTo>
                  <a:cubicBezTo>
                    <a:pt x="1371143" y="1420271"/>
                    <a:pt x="1507298" y="1284116"/>
                    <a:pt x="1507298" y="1116155"/>
                  </a:cubicBezTo>
                  <a:cubicBezTo>
                    <a:pt x="1507298" y="948195"/>
                    <a:pt x="1371143" y="812039"/>
                    <a:pt x="1203183" y="812039"/>
                  </a:cubicBezTo>
                  <a:close/>
                  <a:moveTo>
                    <a:pt x="446104" y="0"/>
                  </a:moveTo>
                  <a:lnTo>
                    <a:pt x="3887543" y="0"/>
                  </a:lnTo>
                  <a:cubicBezTo>
                    <a:pt x="4133919" y="0"/>
                    <a:pt x="4333647" y="199728"/>
                    <a:pt x="4333647" y="446104"/>
                  </a:cubicBezTo>
                  <a:lnTo>
                    <a:pt x="4333647" y="3887543"/>
                  </a:lnTo>
                  <a:cubicBezTo>
                    <a:pt x="4333647" y="4133919"/>
                    <a:pt x="4133919" y="4333647"/>
                    <a:pt x="3887543" y="4333647"/>
                  </a:cubicBezTo>
                  <a:lnTo>
                    <a:pt x="446104" y="4333647"/>
                  </a:lnTo>
                  <a:cubicBezTo>
                    <a:pt x="199728" y="4333647"/>
                    <a:pt x="0" y="4133919"/>
                    <a:pt x="0" y="3887543"/>
                  </a:cubicBezTo>
                  <a:lnTo>
                    <a:pt x="0" y="446104"/>
                  </a:lnTo>
                  <a:cubicBezTo>
                    <a:pt x="0" y="199728"/>
                    <a:pt x="199728" y="0"/>
                    <a:pt x="446104"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646464"/>
                </a:solidFill>
                <a:latin typeface="Calibri"/>
                <a:ea typeface="Calibri"/>
                <a:cs typeface="Calibri"/>
                <a:sym typeface="Calibri"/>
              </a:endParaRPr>
            </a:p>
          </p:txBody>
        </p:sp>
        <p:sp>
          <p:nvSpPr>
            <p:cNvPr id="79" name="Google Shape;79;p72">
              <a:hlinkClick r:id="rId5"/>
            </p:cNvPr>
            <p:cNvSpPr/>
            <p:nvPr/>
          </p:nvSpPr>
          <p:spPr>
            <a:xfrm>
              <a:off x="5219700" y="3618972"/>
              <a:ext cx="243000" cy="243000"/>
            </a:xfrm>
            <a:prstGeom prst="ellipse">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2400"/>
                <a:buFont typeface="Calibri"/>
                <a:buNone/>
              </a:pPr>
              <a:endParaRPr sz="2400" b="0" i="0" u="none" strike="noStrike" cap="none">
                <a:solidFill>
                  <a:srgbClr val="646464"/>
                </a:solidFill>
                <a:latin typeface="Calibri"/>
                <a:ea typeface="Calibri"/>
                <a:cs typeface="Calibri"/>
                <a:sym typeface="Calibri"/>
              </a:endParaRPr>
            </a:p>
          </p:txBody>
        </p:sp>
        <p:sp>
          <p:nvSpPr>
            <p:cNvPr id="80" name="Google Shape;80;p72">
              <a:hlinkClick r:id="rId5"/>
            </p:cNvPr>
            <p:cNvSpPr/>
            <p:nvPr/>
          </p:nvSpPr>
          <p:spPr>
            <a:xfrm>
              <a:off x="5305437" y="3664422"/>
              <a:ext cx="70755" cy="150465"/>
            </a:xfrm>
            <a:custGeom>
              <a:avLst/>
              <a:gdLst/>
              <a:ahLst/>
              <a:cxnLst/>
              <a:rect l="l" t="t" r="r" b="b"/>
              <a:pathLst>
                <a:path w="1415106" h="3009296" extrusionOk="0">
                  <a:moveTo>
                    <a:pt x="1125580" y="0"/>
                  </a:moveTo>
                  <a:cubicBezTo>
                    <a:pt x="1374672" y="0"/>
                    <a:pt x="1406457" y="1262"/>
                    <a:pt x="1410322" y="11311"/>
                  </a:cubicBezTo>
                  <a:cubicBezTo>
                    <a:pt x="1412700" y="17533"/>
                    <a:pt x="1414646" y="134349"/>
                    <a:pt x="1414646" y="270901"/>
                  </a:cubicBezTo>
                  <a:cubicBezTo>
                    <a:pt x="1414646" y="454470"/>
                    <a:pt x="1412430" y="521414"/>
                    <a:pt x="1406078" y="527757"/>
                  </a:cubicBezTo>
                  <a:cubicBezTo>
                    <a:pt x="1399862" y="533982"/>
                    <a:pt x="1347779" y="536341"/>
                    <a:pt x="1216719" y="536341"/>
                  </a:cubicBezTo>
                  <a:cubicBezTo>
                    <a:pt x="1010440" y="536341"/>
                    <a:pt x="990574" y="540169"/>
                    <a:pt x="962492" y="585333"/>
                  </a:cubicBezTo>
                  <a:cubicBezTo>
                    <a:pt x="947275" y="609761"/>
                    <a:pt x="946113" y="620445"/>
                    <a:pt x="943924" y="752664"/>
                  </a:cubicBezTo>
                  <a:lnTo>
                    <a:pt x="941599" y="893900"/>
                  </a:lnTo>
                  <a:lnTo>
                    <a:pt x="1173690" y="893900"/>
                  </a:lnTo>
                  <a:cubicBezTo>
                    <a:pt x="1350860" y="893900"/>
                    <a:pt x="1407403" y="896016"/>
                    <a:pt x="1412727" y="902838"/>
                  </a:cubicBezTo>
                  <a:cubicBezTo>
                    <a:pt x="1417295" y="908709"/>
                    <a:pt x="1415268" y="958419"/>
                    <a:pt x="1406808" y="1047652"/>
                  </a:cubicBezTo>
                  <a:cubicBezTo>
                    <a:pt x="1399727" y="1122383"/>
                    <a:pt x="1387537" y="1252761"/>
                    <a:pt x="1379699" y="1337386"/>
                  </a:cubicBezTo>
                  <a:cubicBezTo>
                    <a:pt x="1371861" y="1422011"/>
                    <a:pt x="1363293" y="1496831"/>
                    <a:pt x="1360671" y="1503653"/>
                  </a:cubicBezTo>
                  <a:cubicBezTo>
                    <a:pt x="1356293" y="1515045"/>
                    <a:pt x="1338238" y="1516056"/>
                    <a:pt x="1138608" y="1516056"/>
                  </a:cubicBezTo>
                  <a:lnTo>
                    <a:pt x="921301" y="1516056"/>
                  </a:lnTo>
                  <a:lnTo>
                    <a:pt x="919463" y="2261569"/>
                  </a:lnTo>
                  <a:lnTo>
                    <a:pt x="917652" y="3007087"/>
                  </a:lnTo>
                  <a:lnTo>
                    <a:pt x="613202" y="3008952"/>
                  </a:lnTo>
                  <a:cubicBezTo>
                    <a:pt x="445757" y="3009979"/>
                    <a:pt x="306575" y="3008627"/>
                    <a:pt x="303910" y="3005979"/>
                  </a:cubicBezTo>
                  <a:cubicBezTo>
                    <a:pt x="301248" y="3003303"/>
                    <a:pt x="299069" y="2667045"/>
                    <a:pt x="299069" y="2258731"/>
                  </a:cubicBezTo>
                  <a:lnTo>
                    <a:pt x="299069" y="1516345"/>
                  </a:lnTo>
                  <a:lnTo>
                    <a:pt x="150682" y="1514413"/>
                  </a:lnTo>
                  <a:lnTo>
                    <a:pt x="2292" y="1512480"/>
                  </a:lnTo>
                  <a:lnTo>
                    <a:pt x="427" y="1212957"/>
                  </a:lnTo>
                  <a:cubicBezTo>
                    <a:pt x="-916" y="997785"/>
                    <a:pt x="843" y="910684"/>
                    <a:pt x="6665" y="903668"/>
                  </a:cubicBezTo>
                  <a:cubicBezTo>
                    <a:pt x="13019" y="896011"/>
                    <a:pt x="45497" y="893900"/>
                    <a:pt x="156920" y="893900"/>
                  </a:cubicBezTo>
                  <a:lnTo>
                    <a:pt x="299069" y="893900"/>
                  </a:lnTo>
                  <a:lnTo>
                    <a:pt x="299069" y="725433"/>
                  </a:lnTo>
                  <a:cubicBezTo>
                    <a:pt x="299069" y="542193"/>
                    <a:pt x="309354" y="464187"/>
                    <a:pt x="346631" y="364710"/>
                  </a:cubicBezTo>
                  <a:cubicBezTo>
                    <a:pt x="392425" y="242510"/>
                    <a:pt x="487918" y="132443"/>
                    <a:pt x="595844" y="77468"/>
                  </a:cubicBezTo>
                  <a:cubicBezTo>
                    <a:pt x="734266" y="6960"/>
                    <a:pt x="781863" y="0"/>
                    <a:pt x="112558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646464"/>
                </a:solidFill>
                <a:latin typeface="Calibri"/>
                <a:ea typeface="Calibri"/>
                <a:cs typeface="Calibri"/>
                <a:sym typeface="Calibri"/>
              </a:endParaRPr>
            </a:p>
          </p:txBody>
        </p:sp>
      </p:grpSp>
      <p:sp>
        <p:nvSpPr>
          <p:cNvPr id="81" name="Google Shape;81;p72"/>
          <p:cNvSpPr/>
          <p:nvPr/>
        </p:nvSpPr>
        <p:spPr>
          <a:xfrm>
            <a:off x="4528067" y="1949533"/>
            <a:ext cx="6446800" cy="2355600"/>
          </a:xfrm>
          <a:prstGeom prst="rect">
            <a:avLst/>
          </a:prstGeom>
          <a:noFill/>
          <a:ln>
            <a:noFill/>
          </a:ln>
        </p:spPr>
        <p:txBody>
          <a:bodyPr spcFirstLastPara="1" wrap="square" lIns="0" tIns="0" rIns="0" bIns="0" anchor="t" anchorCtr="0">
            <a:noAutofit/>
          </a:bodyPr>
          <a:lstStyle/>
          <a:p>
            <a:pPr marL="0" marR="0" lvl="0" indent="0" algn="l" rtl="0">
              <a:lnSpc>
                <a:spcPct val="200000"/>
              </a:lnSpc>
              <a:spcBef>
                <a:spcPts val="0"/>
              </a:spcBef>
              <a:spcAft>
                <a:spcPts val="0"/>
              </a:spcAft>
              <a:buClr>
                <a:srgbClr val="5B5B5B"/>
              </a:buClr>
              <a:buSzPts val="1100"/>
              <a:buFont typeface="Trebuchet MS"/>
              <a:buNone/>
            </a:pPr>
            <a:r>
              <a:rPr lang="en-US" sz="1600" b="1" i="0" u="none" strike="noStrike" cap="none">
                <a:solidFill>
                  <a:schemeClr val="accent1"/>
                </a:solidFill>
                <a:latin typeface="Poppins"/>
                <a:ea typeface="Poppins"/>
                <a:cs typeface="Poppins"/>
                <a:sym typeface="Poppins"/>
              </a:rPr>
              <a:t>About Us</a:t>
            </a:r>
            <a:endParaRPr sz="1600" b="1" i="0" u="none" strike="noStrike" cap="none">
              <a:solidFill>
                <a:schemeClr val="accent1"/>
              </a:solidFill>
              <a:latin typeface="Poppins"/>
              <a:ea typeface="Poppins"/>
              <a:cs typeface="Poppins"/>
              <a:sym typeface="Poppins"/>
            </a:endParaRPr>
          </a:p>
          <a:p>
            <a:pPr marL="0" marR="0" lvl="0" indent="0" algn="l" rtl="0">
              <a:lnSpc>
                <a:spcPct val="115000"/>
              </a:lnSpc>
              <a:spcBef>
                <a:spcPts val="0"/>
              </a:spcBef>
              <a:spcAft>
                <a:spcPts val="0"/>
              </a:spcAft>
              <a:buClr>
                <a:srgbClr val="5B5B5B"/>
              </a:buClr>
              <a:buSzPts val="900"/>
              <a:buFont typeface="Calibri"/>
              <a:buNone/>
            </a:pPr>
            <a:r>
              <a:rPr lang="en-US" sz="1300" b="0" i="0" u="none" strike="noStrike" cap="none">
                <a:solidFill>
                  <a:schemeClr val="dk1"/>
                </a:solidFill>
                <a:latin typeface="Calibri"/>
                <a:ea typeface="Calibri"/>
                <a:cs typeface="Calibri"/>
                <a:sym typeface="Calibri"/>
              </a:rPr>
              <a:t>Tiger Analytics is pioneering what AI and analytics can do to solve some of the toughest problems faced by organizations globally. We develop bespoke solutions powered by data and technology for several Fortune 500 companies. We have offices in multiple cities across the US, UK, India, and Singapore, and a substantial remote global workforce. </a:t>
            </a:r>
            <a:endParaRPr sz="1300" b="0" i="0" u="none" strike="noStrike" cap="none">
              <a:solidFill>
                <a:schemeClr val="dk1"/>
              </a:solidFill>
              <a:latin typeface="Calibri"/>
              <a:ea typeface="Calibri"/>
              <a:cs typeface="Calibri"/>
              <a:sym typeface="Calibri"/>
            </a:endParaRPr>
          </a:p>
          <a:p>
            <a:pPr marL="0" marR="0" lvl="0" indent="0" algn="l" rtl="0">
              <a:lnSpc>
                <a:spcPct val="115000"/>
              </a:lnSpc>
              <a:spcBef>
                <a:spcPts val="1333"/>
              </a:spcBef>
              <a:spcAft>
                <a:spcPts val="0"/>
              </a:spcAft>
              <a:buClr>
                <a:srgbClr val="5B5B5B"/>
              </a:buClr>
              <a:buSzPts val="900"/>
              <a:buFont typeface="Calibri"/>
              <a:buNone/>
            </a:pPr>
            <a:r>
              <a:rPr lang="en-US" sz="1300" b="0" i="0" u="none" strike="noStrike" cap="none">
                <a:solidFill>
                  <a:schemeClr val="dk1"/>
                </a:solidFill>
                <a:latin typeface="Calibri"/>
                <a:ea typeface="Calibri"/>
                <a:cs typeface="Calibri"/>
                <a:sym typeface="Calibri"/>
              </a:rPr>
              <a:t>We have received multiple awards ranging from being recognized as a Leader by Forrester Research to being ranked among the fastest-growing tech companies by Inc. and Financial Times. We consistently feature in prestigious ‘Best Analytics Firms’ lists. </a:t>
            </a:r>
            <a:endParaRPr sz="1300" b="0" i="0" u="none" strike="noStrike" cap="none">
              <a:solidFill>
                <a:schemeClr val="dk1"/>
              </a:solidFill>
              <a:latin typeface="Calibri"/>
              <a:ea typeface="Calibri"/>
              <a:cs typeface="Calibri"/>
              <a:sym typeface="Calibri"/>
            </a:endParaRPr>
          </a:p>
        </p:txBody>
      </p:sp>
      <p:grpSp>
        <p:nvGrpSpPr>
          <p:cNvPr id="82" name="Google Shape;82;p72"/>
          <p:cNvGrpSpPr/>
          <p:nvPr/>
        </p:nvGrpSpPr>
        <p:grpSpPr>
          <a:xfrm rot="10800000">
            <a:off x="11180969" y="5860504"/>
            <a:ext cx="1011044" cy="1014501"/>
            <a:chOff x="1" y="1"/>
            <a:chExt cx="758283" cy="760876"/>
          </a:xfrm>
        </p:grpSpPr>
        <p:sp>
          <p:nvSpPr>
            <p:cNvPr id="83" name="Google Shape;83;p72"/>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rgbClr val="F7901D"/>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1"/>
                </a:buClr>
                <a:buSzPts val="2400"/>
                <a:buFont typeface="Calibri"/>
                <a:buNone/>
              </a:pPr>
              <a:endParaRPr sz="2400" b="0" i="0" u="none" strike="noStrike" cap="none">
                <a:solidFill>
                  <a:srgbClr val="000000"/>
                </a:solidFill>
                <a:latin typeface="Calibri"/>
                <a:ea typeface="Calibri"/>
                <a:cs typeface="Calibri"/>
                <a:sym typeface="Calibri"/>
              </a:endParaRPr>
            </a:p>
          </p:txBody>
        </p:sp>
        <p:sp>
          <p:nvSpPr>
            <p:cNvPr id="84" name="Google Shape;84;p72"/>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1"/>
                </a:buClr>
                <a:buSzPts val="2400"/>
                <a:buFont typeface="Calibri"/>
                <a:buNone/>
              </a:pPr>
              <a:endParaRPr sz="2400" b="0" i="0" u="none" strike="noStrike" cap="none">
                <a:solidFill>
                  <a:srgbClr val="000000"/>
                </a:solidFill>
                <a:latin typeface="Calibri"/>
                <a:ea typeface="Calibri"/>
                <a:cs typeface="Calibri"/>
                <a:sym typeface="Calibri"/>
              </a:endParaRPr>
            </a:p>
          </p:txBody>
        </p:sp>
      </p:grpSp>
      <p:sp>
        <p:nvSpPr>
          <p:cNvPr id="85" name="Google Shape;85;p72"/>
          <p:cNvSpPr/>
          <p:nvPr/>
        </p:nvSpPr>
        <p:spPr>
          <a:xfrm rot="10800000">
            <a:off x="391" y="3"/>
            <a:ext cx="3851609"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pic>
        <p:nvPicPr>
          <p:cNvPr id="86" name="Google Shape;86;p72"/>
          <p:cNvPicPr preferRelativeResize="0"/>
          <p:nvPr/>
        </p:nvPicPr>
        <p:blipFill rotWithShape="1">
          <a:blip r:embed="rId6">
            <a:alphaModFix/>
          </a:blip>
          <a:srcRect/>
          <a:stretch/>
        </p:blipFill>
        <p:spPr>
          <a:xfrm>
            <a:off x="10288450" y="553203"/>
            <a:ext cx="1296527" cy="536908"/>
          </a:xfrm>
          <a:prstGeom prst="rect">
            <a:avLst/>
          </a:prstGeom>
          <a:noFill/>
          <a:ln>
            <a:noFill/>
          </a:ln>
        </p:spPr>
      </p:pic>
    </p:spTree>
  </p:cSld>
  <p:clrMapOvr>
    <a:masterClrMapping/>
  </p:clrMapOvr>
  <p:extLst>
    <p:ext uri="{DCECCB84-F9BA-43D5-87BE-67443E8EF086}">
      <p15:sldGuideLst xmlns:p15="http://schemas.microsoft.com/office/powerpoint/2012/main">
        <p15:guide id="1" pos="347">
          <p15:clr>
            <a:srgbClr val="FBAE40"/>
          </p15:clr>
        </p15:guide>
        <p15:guide id="2" orient="horz" pos="709">
          <p15:clr>
            <a:srgbClr val="FBAE40"/>
          </p15:clr>
        </p15:guide>
        <p15:guide id="3" pos="7333">
          <p15:clr>
            <a:srgbClr val="FBAE40"/>
          </p15:clr>
        </p15:guide>
        <p15:guide id="4" orient="horz" pos="36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87"/>
        <p:cNvGrpSpPr/>
        <p:nvPr/>
      </p:nvGrpSpPr>
      <p:grpSpPr>
        <a:xfrm>
          <a:off x="0" y="0"/>
          <a:ext cx="0" cy="0"/>
          <a:chOff x="0" y="0"/>
          <a:chExt cx="0" cy="0"/>
        </a:xfrm>
      </p:grpSpPr>
      <p:sp>
        <p:nvSpPr>
          <p:cNvPr id="88" name="Google Shape;88;p75"/>
          <p:cNvSpPr/>
          <p:nvPr/>
        </p:nvSpPr>
        <p:spPr>
          <a:xfrm flipH="1">
            <a:off x="391" y="3006658"/>
            <a:ext cx="3851609"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1867"/>
              <a:buFont typeface="Calibri"/>
              <a:buNone/>
            </a:pPr>
            <a:endParaRPr sz="1867" b="0" i="0" u="none" strike="noStrike" cap="none">
              <a:solidFill>
                <a:schemeClr val="dk1"/>
              </a:solidFill>
              <a:latin typeface="Calibri"/>
              <a:ea typeface="Calibri"/>
              <a:cs typeface="Calibri"/>
              <a:sym typeface="Calibri"/>
            </a:endParaRPr>
          </a:p>
        </p:txBody>
      </p:sp>
      <p:sp>
        <p:nvSpPr>
          <p:cNvPr id="89" name="Google Shape;89;p75"/>
          <p:cNvSpPr txBox="1"/>
          <p:nvPr/>
        </p:nvSpPr>
        <p:spPr>
          <a:xfrm>
            <a:off x="3543679" y="1174084"/>
            <a:ext cx="646000" cy="147732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9600"/>
              <a:buFont typeface="Calibri"/>
              <a:buNone/>
            </a:pPr>
            <a:r>
              <a:rPr lang="en-US" sz="9600" b="0" i="0" u="none" strike="noStrike" cap="none">
                <a:solidFill>
                  <a:schemeClr val="dk1"/>
                </a:solidFill>
                <a:latin typeface="Calibri"/>
                <a:ea typeface="Calibri"/>
                <a:cs typeface="Calibri"/>
                <a:sym typeface="Calibri"/>
              </a:rPr>
              <a:t>“</a:t>
            </a:r>
            <a:endParaRPr sz="9600" b="0" i="0" u="none" strike="noStrike" cap="none">
              <a:solidFill>
                <a:schemeClr val="dk1"/>
              </a:solidFill>
              <a:latin typeface="Calibri"/>
              <a:ea typeface="Calibri"/>
              <a:cs typeface="Calibri"/>
              <a:sym typeface="Calibri"/>
            </a:endParaRPr>
          </a:p>
        </p:txBody>
      </p:sp>
      <p:sp>
        <p:nvSpPr>
          <p:cNvPr id="90" name="Google Shape;90;p75"/>
          <p:cNvSpPr txBox="1">
            <a:spLocks noGrp="1"/>
          </p:cNvSpPr>
          <p:nvPr>
            <p:ph type="body" idx="1"/>
          </p:nvPr>
        </p:nvSpPr>
        <p:spPr>
          <a:xfrm>
            <a:off x="4266267" y="1715267"/>
            <a:ext cx="6547705" cy="1827996"/>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200"/>
              <a:buFont typeface="Arial"/>
              <a:buNone/>
              <a:defRPr sz="1600" b="0" i="0" u="none" strike="noStrike" cap="none">
                <a:solidFill>
                  <a:schemeClr val="dk1"/>
                </a:solidFill>
                <a:latin typeface="Calibri"/>
                <a:ea typeface="Calibri"/>
                <a:cs typeface="Calibri"/>
                <a:sym typeface="Calibri"/>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75"/>
          <p:cNvSpPr txBox="1">
            <a:spLocks noGrp="1"/>
          </p:cNvSpPr>
          <p:nvPr>
            <p:ph type="body" idx="2"/>
          </p:nvPr>
        </p:nvSpPr>
        <p:spPr>
          <a:xfrm>
            <a:off x="7681172" y="3819233"/>
            <a:ext cx="3132800" cy="347200"/>
          </a:xfrm>
          <a:prstGeom prst="rect">
            <a:avLst/>
          </a:prstGeom>
          <a:noFill/>
          <a:ln>
            <a:noFill/>
          </a:ln>
        </p:spPr>
        <p:txBody>
          <a:bodyPr spcFirstLastPara="1" wrap="square" lIns="0" tIns="0" rIns="0" bIns="0" anchor="t" anchorCtr="0">
            <a:noAutofit/>
          </a:bodyPr>
          <a:lstStyle>
            <a:lvl1pPr marL="457200" marR="0" lvl="0" indent="-228600" algn="r">
              <a:lnSpc>
                <a:spcPct val="100000"/>
              </a:lnSpc>
              <a:spcBef>
                <a:spcPts val="0"/>
              </a:spcBef>
              <a:spcAft>
                <a:spcPts val="0"/>
              </a:spcAft>
              <a:buClr>
                <a:schemeClr val="accent1"/>
              </a:buClr>
              <a:buSzPts val="1200"/>
              <a:buFont typeface="Arial"/>
              <a:buNone/>
              <a:defRPr sz="1600" b="1" i="0" u="none" strike="noStrike" cap="none">
                <a:solidFill>
                  <a:schemeClr val="accent1"/>
                </a:solidFill>
                <a:latin typeface="Calibri"/>
                <a:ea typeface="Calibri"/>
                <a:cs typeface="Calibri"/>
                <a:sym typeface="Calibri"/>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75"/>
          <p:cNvSpPr/>
          <p:nvPr/>
        </p:nvSpPr>
        <p:spPr>
          <a:xfrm>
            <a:off x="11792594"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chemeClr val="dk1"/>
                </a:solidFill>
                <a:latin typeface="Calibri"/>
                <a:ea typeface="Calibri"/>
                <a:cs typeface="Calibri"/>
                <a:sym typeface="Calibri"/>
              </a:rPr>
              <a:t>‹#›</a:t>
            </a:fld>
            <a:endParaRPr sz="900" b="0" i="0" u="none" strike="noStrike" cap="none">
              <a:solidFill>
                <a:schemeClr val="dk1"/>
              </a:solidFill>
              <a:latin typeface="Calibri"/>
              <a:ea typeface="Calibri"/>
              <a:cs typeface="Calibri"/>
              <a:sym typeface="Calibri"/>
            </a:endParaRPr>
          </a:p>
        </p:txBody>
      </p:sp>
      <p:grpSp>
        <p:nvGrpSpPr>
          <p:cNvPr id="93" name="Google Shape;93;p75"/>
          <p:cNvGrpSpPr/>
          <p:nvPr/>
        </p:nvGrpSpPr>
        <p:grpSpPr>
          <a:xfrm>
            <a:off x="1" y="6814800"/>
            <a:ext cx="12179567" cy="43200"/>
            <a:chOff x="0" y="5111100"/>
            <a:chExt cx="9134675" cy="32400"/>
          </a:xfrm>
        </p:grpSpPr>
        <p:sp>
          <p:nvSpPr>
            <p:cNvPr id="94" name="Google Shape;94;p75"/>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sp>
          <p:nvSpPr>
            <p:cNvPr id="95" name="Google Shape;95;p75"/>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sp>
          <p:nvSpPr>
            <p:cNvPr id="96" name="Google Shape;96;p75"/>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sp>
          <p:nvSpPr>
            <p:cNvPr id="97" name="Google Shape;97;p75"/>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sp>
          <p:nvSpPr>
            <p:cNvPr id="98" name="Google Shape;98;p75"/>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sp>
          <p:nvSpPr>
            <p:cNvPr id="99" name="Google Shape;99;p75"/>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grpSp>
    </p:spTree>
  </p:cSld>
  <p:clrMapOvr>
    <a:masterClrMapping/>
  </p:clrMapOvr>
  <p:extLst>
    <p:ext uri="{DCECCB84-F9BA-43D5-87BE-67443E8EF086}">
      <p15:sldGuideLst xmlns:p15="http://schemas.microsoft.com/office/powerpoint/2012/main">
        <p15:guide id="1" orient="horz" pos="346">
          <p15:clr>
            <a:srgbClr val="FBAE40"/>
          </p15:clr>
        </p15:guide>
        <p15:guide id="2" pos="325">
          <p15:clr>
            <a:srgbClr val="FBAE40"/>
          </p15:clr>
        </p15:guide>
        <p15:guide id="3" pos="7355">
          <p15:clr>
            <a:srgbClr val="FBAE40"/>
          </p15:clr>
        </p15:guide>
        <p15:guide id="4" orient="horz" pos="40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Cover - Imagery">
  <p:cSld name="Title/Cover - Imagery">
    <p:spTree>
      <p:nvGrpSpPr>
        <p:cNvPr id="1" name="Shape 100"/>
        <p:cNvGrpSpPr/>
        <p:nvPr/>
      </p:nvGrpSpPr>
      <p:grpSpPr>
        <a:xfrm>
          <a:off x="0" y="0"/>
          <a:ext cx="0" cy="0"/>
          <a:chOff x="0" y="0"/>
          <a:chExt cx="0" cy="0"/>
        </a:xfrm>
      </p:grpSpPr>
      <p:sp>
        <p:nvSpPr>
          <p:cNvPr id="101" name="Google Shape;101;p90"/>
          <p:cNvSpPr>
            <a:spLocks noGrp="1"/>
          </p:cNvSpPr>
          <p:nvPr>
            <p:ph type="pic" idx="2"/>
          </p:nvPr>
        </p:nvSpPr>
        <p:spPr>
          <a:xfrm>
            <a:off x="8908710" y="3578469"/>
            <a:ext cx="3278657" cy="3279535"/>
          </a:xfrm>
          <a:prstGeom prst="rect">
            <a:avLst/>
          </a:prstGeom>
          <a:noFill/>
          <a:ln>
            <a:noFill/>
          </a:ln>
        </p:spPr>
      </p:sp>
      <p:sp>
        <p:nvSpPr>
          <p:cNvPr id="102" name="Google Shape;102;p90"/>
          <p:cNvSpPr/>
          <p:nvPr/>
        </p:nvSpPr>
        <p:spPr>
          <a:xfrm>
            <a:off x="3" y="4"/>
            <a:ext cx="1011044" cy="1014501"/>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03" name="Google Shape;103;p90"/>
          <p:cNvSpPr/>
          <p:nvPr/>
        </p:nvSpPr>
        <p:spPr>
          <a:xfrm>
            <a:off x="3" y="3"/>
            <a:ext cx="403374"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1867"/>
              <a:buFont typeface="Calibri"/>
              <a:buNone/>
            </a:pPr>
            <a:endParaRPr sz="1867" b="0" i="0" u="none" strike="noStrike" cap="none">
              <a:solidFill>
                <a:schemeClr val="dk1"/>
              </a:solidFill>
              <a:latin typeface="Calibri"/>
              <a:ea typeface="Calibri"/>
              <a:cs typeface="Calibri"/>
              <a:sym typeface="Calibri"/>
            </a:endParaRPr>
          </a:p>
        </p:txBody>
      </p:sp>
      <p:sp>
        <p:nvSpPr>
          <p:cNvPr id="104" name="Google Shape;104;p90"/>
          <p:cNvSpPr/>
          <p:nvPr/>
        </p:nvSpPr>
        <p:spPr>
          <a:xfrm>
            <a:off x="8340399" y="3006658"/>
            <a:ext cx="3851609" cy="3851345"/>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1867"/>
              <a:buFont typeface="Calibri"/>
              <a:buNone/>
            </a:pPr>
            <a:endParaRPr sz="1867" b="0" i="0" u="none" strike="noStrike" cap="none">
              <a:solidFill>
                <a:schemeClr val="dk1"/>
              </a:solidFill>
              <a:latin typeface="Calibri"/>
              <a:ea typeface="Calibri"/>
              <a:cs typeface="Calibri"/>
              <a:sym typeface="Calibri"/>
            </a:endParaRPr>
          </a:p>
        </p:txBody>
      </p:sp>
      <p:sp>
        <p:nvSpPr>
          <p:cNvPr id="105" name="Google Shape;105;p90"/>
          <p:cNvSpPr txBox="1">
            <a:spLocks noGrp="1"/>
          </p:cNvSpPr>
          <p:nvPr>
            <p:ph type="body" idx="1"/>
          </p:nvPr>
        </p:nvSpPr>
        <p:spPr>
          <a:xfrm>
            <a:off x="3078592" y="6499667"/>
            <a:ext cx="1376800" cy="123200"/>
          </a:xfrm>
          <a:prstGeom prst="rect">
            <a:avLst/>
          </a:prstGeom>
          <a:noFill/>
          <a:ln>
            <a:noFill/>
          </a:ln>
        </p:spPr>
        <p:txBody>
          <a:bodyPr spcFirstLastPara="1" wrap="square" lIns="0" tIns="0" rIns="0" bIns="0" anchor="t" anchorCtr="0">
            <a:noAutofit/>
          </a:bodyPr>
          <a:lstStyle>
            <a:lvl1pPr marL="457200" marR="0" lvl="0"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90"/>
          <p:cNvSpPr txBox="1">
            <a:spLocks noGrp="1"/>
          </p:cNvSpPr>
          <p:nvPr>
            <p:ph type="body" idx="3"/>
          </p:nvPr>
        </p:nvSpPr>
        <p:spPr>
          <a:xfrm>
            <a:off x="6983590" y="6499667"/>
            <a:ext cx="745200" cy="1232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90"/>
          <p:cNvSpPr txBox="1"/>
          <p:nvPr/>
        </p:nvSpPr>
        <p:spPr>
          <a:xfrm>
            <a:off x="4978277" y="6499669"/>
            <a:ext cx="224420" cy="123111"/>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chemeClr val="dk1"/>
              </a:buClr>
              <a:buSzPts val="800"/>
              <a:buFont typeface="Calibri"/>
              <a:buNone/>
            </a:pPr>
            <a:r>
              <a:rPr lang="en-US" sz="800" b="0" i="0" u="none" strike="noStrike" cap="none">
                <a:solidFill>
                  <a:schemeClr val="dk1"/>
                </a:solidFill>
                <a:latin typeface="Calibri"/>
                <a:ea typeface="Calibri"/>
                <a:cs typeface="Calibri"/>
                <a:sym typeface="Calibri"/>
              </a:rPr>
              <a:t>Date:</a:t>
            </a:r>
            <a:endParaRPr sz="800" b="0" i="0" u="none" strike="noStrike" cap="none">
              <a:solidFill>
                <a:schemeClr val="dk1"/>
              </a:solidFill>
              <a:latin typeface="Calibri"/>
              <a:ea typeface="Calibri"/>
              <a:cs typeface="Calibri"/>
              <a:sym typeface="Calibri"/>
            </a:endParaRPr>
          </a:p>
        </p:txBody>
      </p:sp>
      <p:sp>
        <p:nvSpPr>
          <p:cNvPr id="108" name="Google Shape;108;p90"/>
          <p:cNvSpPr txBox="1">
            <a:spLocks noGrp="1"/>
          </p:cNvSpPr>
          <p:nvPr>
            <p:ph type="body" idx="4"/>
          </p:nvPr>
        </p:nvSpPr>
        <p:spPr>
          <a:xfrm>
            <a:off x="5236821" y="6499667"/>
            <a:ext cx="856000" cy="1232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90"/>
          <p:cNvSpPr txBox="1">
            <a:spLocks noGrp="1"/>
          </p:cNvSpPr>
          <p:nvPr>
            <p:ph type="body" idx="5"/>
          </p:nvPr>
        </p:nvSpPr>
        <p:spPr>
          <a:xfrm>
            <a:off x="527051" y="2076467"/>
            <a:ext cx="5544800" cy="1352800"/>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0"/>
              </a:spcBef>
              <a:spcAft>
                <a:spcPts val="0"/>
              </a:spcAft>
              <a:buClr>
                <a:schemeClr val="accent1"/>
              </a:buClr>
              <a:buSzPts val="3000"/>
              <a:buFont typeface="Poppins Medium"/>
              <a:buNone/>
              <a:defRPr sz="4000" b="0" i="0" u="none" strike="noStrike" cap="none">
                <a:solidFill>
                  <a:schemeClr val="accent1"/>
                </a:solidFill>
                <a:latin typeface="Poppins Medium"/>
                <a:ea typeface="Poppins Medium"/>
                <a:cs typeface="Poppins Medium"/>
                <a:sym typeface="Poppins Medium"/>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90"/>
          <p:cNvSpPr txBox="1">
            <a:spLocks noGrp="1"/>
          </p:cNvSpPr>
          <p:nvPr>
            <p:ph type="body" idx="6"/>
          </p:nvPr>
        </p:nvSpPr>
        <p:spPr>
          <a:xfrm>
            <a:off x="527051" y="4129148"/>
            <a:ext cx="2328800" cy="328241"/>
          </a:xfrm>
          <a:prstGeom prst="rect">
            <a:avLst/>
          </a:prstGeom>
          <a:solidFill>
            <a:schemeClr val="lt2"/>
          </a:solidFill>
          <a:ln>
            <a:noFill/>
          </a:ln>
        </p:spPr>
        <p:txBody>
          <a:bodyPr spcFirstLastPara="1" wrap="square" lIns="72000" tIns="72000" rIns="72000" bIns="72000" anchor="t" anchorCtr="0">
            <a:noAutofit/>
          </a:bodyPr>
          <a:lstStyle>
            <a:lvl1pPr marL="457200" marR="0" lvl="0" indent="-228600" algn="l">
              <a:lnSpc>
                <a:spcPct val="100000"/>
              </a:lnSpc>
              <a:spcBef>
                <a:spcPts val="0"/>
              </a:spcBef>
              <a:spcAft>
                <a:spcPts val="0"/>
              </a:spcAft>
              <a:buClr>
                <a:srgbClr val="000000"/>
              </a:buClr>
              <a:buSzPts val="1000"/>
              <a:buFont typeface="Poppins"/>
              <a:buNone/>
              <a:defRPr sz="1200" b="0" i="0" u="none" strike="noStrike" cap="none">
                <a:solidFill>
                  <a:schemeClr val="dk1"/>
                </a:solidFill>
                <a:latin typeface="Poppins"/>
                <a:ea typeface="Poppins"/>
                <a:cs typeface="Poppins"/>
                <a:sym typeface="Poppins"/>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90"/>
          <p:cNvSpPr txBox="1">
            <a:spLocks noGrp="1"/>
          </p:cNvSpPr>
          <p:nvPr>
            <p:ph type="body" idx="7"/>
          </p:nvPr>
        </p:nvSpPr>
        <p:spPr>
          <a:xfrm>
            <a:off x="527051" y="3593767"/>
            <a:ext cx="5544800" cy="3860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rgbClr val="000000"/>
              </a:buClr>
              <a:buSzPts val="1400"/>
              <a:buFont typeface="Poppins"/>
              <a:buNone/>
              <a:defRPr sz="1600" b="0" i="0" u="none" strike="noStrike" cap="none">
                <a:solidFill>
                  <a:schemeClr val="dk1"/>
                </a:solidFill>
                <a:latin typeface="Poppins"/>
                <a:ea typeface="Poppins"/>
                <a:cs typeface="Poppins"/>
                <a:sym typeface="Poppins"/>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90"/>
          <p:cNvSpPr txBox="1"/>
          <p:nvPr/>
        </p:nvSpPr>
        <p:spPr>
          <a:xfrm>
            <a:off x="527051" y="6499669"/>
            <a:ext cx="1981312" cy="12311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chemeClr val="dk1"/>
                </a:solidFill>
                <a:latin typeface="Calibri"/>
                <a:ea typeface="Calibri"/>
                <a:cs typeface="Calibri"/>
                <a:sym typeface="Calibri"/>
              </a:rPr>
              <a:t>Tiger Analytics Inc. © 2023. All Rights Reserved.</a:t>
            </a:r>
            <a:endParaRPr sz="1400" b="0" i="0" u="none" strike="noStrike" cap="none">
              <a:solidFill>
                <a:srgbClr val="000000"/>
              </a:solidFill>
              <a:latin typeface="Arial"/>
              <a:ea typeface="Arial"/>
              <a:cs typeface="Arial"/>
              <a:sym typeface="Arial"/>
            </a:endParaRPr>
          </a:p>
        </p:txBody>
      </p:sp>
      <p:sp>
        <p:nvSpPr>
          <p:cNvPr id="113" name="Google Shape;113;p90"/>
          <p:cNvSpPr txBox="1"/>
          <p:nvPr/>
        </p:nvSpPr>
        <p:spPr>
          <a:xfrm>
            <a:off x="6629043" y="6499669"/>
            <a:ext cx="318998" cy="123111"/>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chemeClr val="dk1"/>
              </a:buClr>
              <a:buSzPts val="800"/>
              <a:buFont typeface="Calibri"/>
              <a:buNone/>
            </a:pPr>
            <a:r>
              <a:rPr lang="en-US" sz="800" b="0" i="0" u="none" strike="noStrike" cap="none">
                <a:solidFill>
                  <a:schemeClr val="dk1"/>
                </a:solidFill>
                <a:latin typeface="Calibri"/>
                <a:ea typeface="Calibri"/>
                <a:cs typeface="Calibri"/>
                <a:sym typeface="Calibri"/>
              </a:rPr>
              <a:t>Author:</a:t>
            </a:r>
            <a:endParaRPr sz="1400" b="0" i="0" u="none" strike="noStrike" cap="none">
              <a:solidFill>
                <a:srgbClr val="000000"/>
              </a:solidFill>
              <a:latin typeface="Arial"/>
              <a:ea typeface="Arial"/>
              <a:cs typeface="Arial"/>
              <a:sym typeface="Arial"/>
            </a:endParaRPr>
          </a:p>
        </p:txBody>
      </p:sp>
      <p:pic>
        <p:nvPicPr>
          <p:cNvPr id="114" name="Google Shape;114;p90"/>
          <p:cNvPicPr preferRelativeResize="0"/>
          <p:nvPr/>
        </p:nvPicPr>
        <p:blipFill rotWithShape="1">
          <a:blip r:embed="rId2">
            <a:alphaModFix/>
          </a:blip>
          <a:srcRect/>
          <a:stretch/>
        </p:blipFill>
        <p:spPr>
          <a:xfrm>
            <a:off x="10509120" y="631115"/>
            <a:ext cx="1166943" cy="48324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709">
          <p15:clr>
            <a:srgbClr val="FBAE40"/>
          </p15:clr>
        </p15:guide>
        <p15:guide id="2" pos="325">
          <p15:clr>
            <a:srgbClr val="FBAE40"/>
          </p15:clr>
        </p15:guide>
        <p15:guide id="3" pos="7355">
          <p15:clr>
            <a:srgbClr val="FBAE40"/>
          </p15:clr>
        </p15:guide>
        <p15:guide id="4" orient="horz" pos="399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115"/>
        <p:cNvGrpSpPr/>
        <p:nvPr/>
      </p:nvGrpSpPr>
      <p:grpSpPr>
        <a:xfrm>
          <a:off x="0" y="0"/>
          <a:ext cx="0" cy="0"/>
          <a:chOff x="0" y="0"/>
          <a:chExt cx="0" cy="0"/>
        </a:xfrm>
      </p:grpSpPr>
      <p:sp>
        <p:nvSpPr>
          <p:cNvPr id="116" name="Google Shape;116;p93"/>
          <p:cNvSpPr/>
          <p:nvPr/>
        </p:nvSpPr>
        <p:spPr>
          <a:xfrm>
            <a:off x="6" y="5"/>
            <a:ext cx="301543" cy="347263"/>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67"/>
              <a:buFont typeface="Arial"/>
              <a:buNone/>
            </a:pPr>
            <a:endParaRPr sz="1867" b="0" i="0" u="none" strike="noStrike" cap="none">
              <a:solidFill>
                <a:schemeClr val="dk1"/>
              </a:solidFill>
              <a:latin typeface="Calibri"/>
              <a:ea typeface="Calibri"/>
              <a:cs typeface="Calibri"/>
              <a:sym typeface="Calibri"/>
            </a:endParaRPr>
          </a:p>
        </p:txBody>
      </p:sp>
      <p:sp>
        <p:nvSpPr>
          <p:cNvPr id="117" name="Google Shape;117;p93"/>
          <p:cNvSpPr/>
          <p:nvPr/>
        </p:nvSpPr>
        <p:spPr>
          <a:xfrm>
            <a:off x="3" y="4"/>
            <a:ext cx="403375" cy="496797"/>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67"/>
              <a:buFont typeface="Arial"/>
              <a:buNone/>
            </a:pPr>
            <a:endParaRPr sz="1867" b="0" i="0" u="none" strike="noStrike" cap="none">
              <a:solidFill>
                <a:schemeClr val="dk1"/>
              </a:solidFill>
              <a:latin typeface="Calibri"/>
              <a:ea typeface="Calibri"/>
              <a:cs typeface="Calibri"/>
              <a:sym typeface="Calibri"/>
            </a:endParaRPr>
          </a:p>
        </p:txBody>
      </p:sp>
      <p:sp>
        <p:nvSpPr>
          <p:cNvPr id="118" name="Google Shape;118;p93"/>
          <p:cNvSpPr/>
          <p:nvPr/>
        </p:nvSpPr>
        <p:spPr>
          <a:xfrm>
            <a:off x="11792595" y="6494883"/>
            <a:ext cx="304800" cy="3060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chemeClr val="dk1"/>
                </a:solidFill>
                <a:latin typeface="Calibri"/>
                <a:ea typeface="Calibri"/>
                <a:cs typeface="Calibri"/>
                <a:sym typeface="Calibri"/>
              </a:rPr>
              <a:t>‹#›</a:t>
            </a:fld>
            <a:endParaRPr sz="900" b="0" i="0" u="none" strike="noStrike" cap="none">
              <a:solidFill>
                <a:schemeClr val="dk1"/>
              </a:solidFill>
              <a:latin typeface="Calibri"/>
              <a:ea typeface="Calibri"/>
              <a:cs typeface="Calibri"/>
              <a:sym typeface="Calibri"/>
            </a:endParaRPr>
          </a:p>
        </p:txBody>
      </p:sp>
      <p:grpSp>
        <p:nvGrpSpPr>
          <p:cNvPr id="119" name="Google Shape;119;p93"/>
          <p:cNvGrpSpPr/>
          <p:nvPr/>
        </p:nvGrpSpPr>
        <p:grpSpPr>
          <a:xfrm>
            <a:off x="2" y="6814800"/>
            <a:ext cx="12179567" cy="43200"/>
            <a:chOff x="0" y="5111100"/>
            <a:chExt cx="9134675" cy="32400"/>
          </a:xfrm>
        </p:grpSpPr>
        <p:sp>
          <p:nvSpPr>
            <p:cNvPr id="120" name="Google Shape;120;p93"/>
            <p:cNvSpPr/>
            <p:nvPr/>
          </p:nvSpPr>
          <p:spPr>
            <a:xfrm>
              <a:off x="893903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21" name="Google Shape;121;p93"/>
            <p:cNvSpPr/>
            <p:nvPr/>
          </p:nvSpPr>
          <p:spPr>
            <a:xfrm>
              <a:off x="899344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22" name="Google Shape;122;p93"/>
            <p:cNvSpPr/>
            <p:nvPr/>
          </p:nvSpPr>
          <p:spPr>
            <a:xfrm>
              <a:off x="910227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23" name="Google Shape;123;p93"/>
            <p:cNvSpPr/>
            <p:nvPr/>
          </p:nvSpPr>
          <p:spPr>
            <a:xfrm>
              <a:off x="8884615"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24" name="Google Shape;124;p93"/>
            <p:cNvSpPr/>
            <p:nvPr/>
          </p:nvSpPr>
          <p:spPr>
            <a:xfrm>
              <a:off x="0" y="5112281"/>
              <a:ext cx="8862600" cy="31200"/>
            </a:xfrm>
            <a:prstGeom prst="roundRect">
              <a:avLst>
                <a:gd name="adj" fmla="val 16667"/>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25" name="Google Shape;125;p93"/>
            <p:cNvSpPr/>
            <p:nvPr/>
          </p:nvSpPr>
          <p:spPr>
            <a:xfrm>
              <a:off x="9047860" y="5111100"/>
              <a:ext cx="32400" cy="32400"/>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grpSp>
      <p:sp>
        <p:nvSpPr>
          <p:cNvPr id="126" name="Google Shape;126;p93"/>
          <p:cNvSpPr txBox="1">
            <a:spLocks noGrp="1"/>
          </p:cNvSpPr>
          <p:nvPr>
            <p:ph type="body" idx="1"/>
          </p:nvPr>
        </p:nvSpPr>
        <p:spPr>
          <a:xfrm>
            <a:off x="527051" y="496800"/>
            <a:ext cx="11137900" cy="611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2000"/>
              <a:buFont typeface="Poppins Medium"/>
              <a:buNone/>
              <a:defRPr sz="2200" b="0" i="0" u="none" strike="noStrike" cap="none">
                <a:solidFill>
                  <a:schemeClr val="dk1"/>
                </a:solidFill>
                <a:latin typeface="Poppins Medium"/>
                <a:ea typeface="Poppins Medium"/>
                <a:cs typeface="Poppins Medium"/>
                <a:sym typeface="Poppins Medium"/>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5pPr>
            <a:lvl6pPr marL="2743200" lvl="5" indent="-342963" algn="l">
              <a:lnSpc>
                <a:spcPct val="90000"/>
              </a:lnSpc>
              <a:spcBef>
                <a:spcPts val="500"/>
              </a:spcBef>
              <a:spcAft>
                <a:spcPts val="0"/>
              </a:spcAft>
              <a:buSzPts val="1801"/>
              <a:buChar char="•"/>
              <a:defRPr/>
            </a:lvl6pPr>
            <a:lvl7pPr marL="3200400" lvl="6" indent="-342963" algn="l">
              <a:lnSpc>
                <a:spcPct val="90000"/>
              </a:lnSpc>
              <a:spcBef>
                <a:spcPts val="500"/>
              </a:spcBef>
              <a:spcAft>
                <a:spcPts val="0"/>
              </a:spcAft>
              <a:buSzPts val="1801"/>
              <a:buChar char="•"/>
              <a:defRPr/>
            </a:lvl7pPr>
            <a:lvl8pPr marL="3657600" lvl="7" indent="-342963" algn="l">
              <a:lnSpc>
                <a:spcPct val="90000"/>
              </a:lnSpc>
              <a:spcBef>
                <a:spcPts val="500"/>
              </a:spcBef>
              <a:spcAft>
                <a:spcPts val="0"/>
              </a:spcAft>
              <a:buSzPts val="1801"/>
              <a:buChar char="•"/>
              <a:defRPr/>
            </a:lvl8pPr>
            <a:lvl9pPr marL="4114800" lvl="8" indent="-342963" algn="l">
              <a:lnSpc>
                <a:spcPct val="90000"/>
              </a:lnSpc>
              <a:spcBef>
                <a:spcPts val="500"/>
              </a:spcBef>
              <a:spcAft>
                <a:spcPts val="0"/>
              </a:spcAft>
              <a:buSzPts val="1801"/>
              <a:buChar char="•"/>
              <a:defRPr/>
            </a:lvl9pPr>
          </a:lstStyle>
          <a:p>
            <a:endParaRPr/>
          </a:p>
        </p:txBody>
      </p:sp>
    </p:spTree>
  </p:cSld>
  <p:clrMapOvr>
    <a:masterClrMapping/>
  </p:clrMapOvr>
  <p:extLst>
    <p:ext uri="{DCECCB84-F9BA-43D5-87BE-67443E8EF086}">
      <p15:sldGuideLst xmlns:p15="http://schemas.microsoft.com/office/powerpoint/2012/main">
        <p15:guide id="1" orient="horz" pos="709">
          <p15:clr>
            <a:srgbClr val="FBAE40"/>
          </p15:clr>
        </p15:guide>
        <p15:guide id="2" pos="325">
          <p15:clr>
            <a:srgbClr val="FBAE40"/>
          </p15:clr>
        </p15:guide>
        <p15:guide id="3" pos="7355">
          <p15:clr>
            <a:srgbClr val="FBAE40"/>
          </p15:clr>
        </p15:guide>
        <p15:guide id="4" orient="horz" pos="408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Column (Vertical Style)">
  <p:cSld name="Title + Column (Vertical Style)">
    <p:spTree>
      <p:nvGrpSpPr>
        <p:cNvPr id="1" name="Shape 127"/>
        <p:cNvGrpSpPr/>
        <p:nvPr/>
      </p:nvGrpSpPr>
      <p:grpSpPr>
        <a:xfrm>
          <a:off x="0" y="0"/>
          <a:ext cx="0" cy="0"/>
          <a:chOff x="0" y="0"/>
          <a:chExt cx="0" cy="0"/>
        </a:xfrm>
      </p:grpSpPr>
      <p:sp>
        <p:nvSpPr>
          <p:cNvPr id="128" name="Google Shape;128;p91"/>
          <p:cNvSpPr txBox="1">
            <a:spLocks noGrp="1"/>
          </p:cNvSpPr>
          <p:nvPr>
            <p:ph type="body" idx="1"/>
          </p:nvPr>
        </p:nvSpPr>
        <p:spPr>
          <a:xfrm>
            <a:off x="527052" y="496800"/>
            <a:ext cx="2212085" cy="611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2000"/>
              <a:buFont typeface="Poppins Medium"/>
              <a:buNone/>
              <a:defRPr sz="2200" b="0" i="0" u="none" strike="noStrike" cap="none">
                <a:solidFill>
                  <a:schemeClr val="dk1"/>
                </a:solidFill>
                <a:latin typeface="Poppins Medium"/>
                <a:ea typeface="Poppins Medium"/>
                <a:cs typeface="Poppins Medium"/>
                <a:sym typeface="Poppins Medium"/>
              </a:defRPr>
            </a:lvl1pPr>
            <a:lvl2pPr marL="914400" marR="0" lvl="1"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2pPr>
            <a:lvl3pPr marL="1371600" marR="0" lvl="2"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3pPr>
            <a:lvl4pPr marL="1828800" marR="0" lvl="3"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4pPr>
            <a:lvl5pPr marL="2286000" marR="0" lvl="4" indent="-228600" algn="ctr">
              <a:lnSpc>
                <a:spcPct val="100000"/>
              </a:lnSpc>
              <a:spcBef>
                <a:spcPts val="0"/>
              </a:spcBef>
              <a:spcAft>
                <a:spcPts val="0"/>
              </a:spcAft>
              <a:buClr>
                <a:schemeClr val="dk1"/>
              </a:buClr>
              <a:buSzPts val="600"/>
              <a:buFont typeface="Arial"/>
              <a:buNone/>
              <a:defRPr sz="800" b="0" i="0" u="none" strike="noStrike" cap="none">
                <a:solidFill>
                  <a:schemeClr val="dk1"/>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838201" y="365127"/>
            <a:ext cx="10515600" cy="1325563"/>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dk1"/>
              </a:buClr>
              <a:buSzPts val="1801"/>
              <a:buFont typeface="Poppins"/>
              <a:buNone/>
              <a:defRPr sz="1801"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8"/>
          <p:cNvSpPr txBox="1">
            <a:spLocks noGrp="1"/>
          </p:cNvSpPr>
          <p:nvPr>
            <p:ph type="body" idx="1"/>
          </p:nvPr>
        </p:nvSpPr>
        <p:spPr>
          <a:xfrm>
            <a:off x="838201" y="1825625"/>
            <a:ext cx="10515600" cy="4351338"/>
          </a:xfrm>
          <a:prstGeom prst="rect">
            <a:avLst/>
          </a:prstGeom>
          <a:noFill/>
          <a:ln>
            <a:noFill/>
          </a:ln>
        </p:spPr>
        <p:txBody>
          <a:bodyPr spcFirstLastPara="1" wrap="square" lIns="0" tIns="0" rIns="0" bIns="0" anchor="t" anchorCtr="0">
            <a:normAutofit/>
          </a:bodyPr>
          <a:lstStyle>
            <a:lvl1pPr marL="457200" marR="0" lvl="0" indent="-330200" algn="l" rtl="0">
              <a:lnSpc>
                <a:spcPct val="90000"/>
              </a:lnSpc>
              <a:spcBef>
                <a:spcPts val="1001"/>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6pPr>
            <a:lvl7pPr marL="3200400" marR="0" lvl="6"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7pPr>
            <a:lvl8pPr marL="3657600" marR="0" lvl="7"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8pPr>
            <a:lvl9pPr marL="4114800" marR="0" lvl="8"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0"/>
        <p:cNvGrpSpPr/>
        <p:nvPr/>
      </p:nvGrpSpPr>
      <p:grpSpPr>
        <a:xfrm>
          <a:off x="0" y="0"/>
          <a:ext cx="0" cy="0"/>
          <a:chOff x="0" y="0"/>
          <a:chExt cx="0" cy="0"/>
        </a:xfrm>
      </p:grpSpPr>
      <p:pic>
        <p:nvPicPr>
          <p:cNvPr id="1681" name="Google Shape;1681;g3c85409342f_0_9"/>
          <p:cNvPicPr preferRelativeResize="0"/>
          <p:nvPr/>
        </p:nvPicPr>
        <p:blipFill rotWithShape="1">
          <a:blip r:embed="rId3">
            <a:alphaModFix amt="20000"/>
          </a:blip>
          <a:srcRect t="7784" b="7783"/>
          <a:stretch/>
        </p:blipFill>
        <p:spPr>
          <a:xfrm rot="10800000" flipH="1">
            <a:off x="-1" y="0"/>
            <a:ext cx="12191985" cy="6857991"/>
          </a:xfrm>
          <a:prstGeom prst="rect">
            <a:avLst/>
          </a:prstGeom>
          <a:noFill/>
          <a:ln>
            <a:noFill/>
          </a:ln>
        </p:spPr>
      </p:pic>
      <p:sp>
        <p:nvSpPr>
          <p:cNvPr id="1682" name="Google Shape;1682;g3c85409342f_0_9"/>
          <p:cNvSpPr/>
          <p:nvPr/>
        </p:nvSpPr>
        <p:spPr>
          <a:xfrm>
            <a:off x="0" y="0"/>
            <a:ext cx="12192000" cy="6858000"/>
          </a:xfrm>
          <a:prstGeom prst="rect">
            <a:avLst/>
          </a:prstGeom>
          <a:gradFill>
            <a:gsLst>
              <a:gs pos="0">
                <a:srgbClr val="FFFFFF">
                  <a:alpha val="92549"/>
                </a:srgbClr>
              </a:gs>
              <a:gs pos="44000">
                <a:srgbClr val="FFFFFF">
                  <a:alpha val="92549"/>
                </a:srgbClr>
              </a:gs>
              <a:gs pos="100000">
                <a:srgbClr val="FFFFFF">
                  <a:alpha val="43921"/>
                </a:srgbClr>
              </a:gs>
            </a:gsLst>
            <a:lin ang="10800025"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83" name="Google Shape;1683;g3c85409342f_0_9"/>
          <p:cNvSpPr/>
          <p:nvPr/>
        </p:nvSpPr>
        <p:spPr>
          <a:xfrm>
            <a:off x="8638162" y="-1"/>
            <a:ext cx="3554038" cy="3157823"/>
          </a:xfrm>
          <a:custGeom>
            <a:avLst/>
            <a:gdLst/>
            <a:ahLst/>
            <a:cxnLst/>
            <a:rect l="l" t="t" r="r" b="b"/>
            <a:pathLst>
              <a:path w="344634" h="518952" extrusionOk="0">
                <a:moveTo>
                  <a:pt x="0" y="0"/>
                </a:moveTo>
                <a:lnTo>
                  <a:pt x="344634" y="0"/>
                </a:lnTo>
                <a:lnTo>
                  <a:pt x="344634" y="518952"/>
                </a:lnTo>
                <a:lnTo>
                  <a:pt x="0" y="518952"/>
                </a:lnTo>
                <a:close/>
              </a:path>
            </a:pathLst>
          </a:custGeom>
          <a:gradFill>
            <a:gsLst>
              <a:gs pos="0">
                <a:schemeClr val="lt2"/>
              </a:gs>
              <a:gs pos="100000">
                <a:srgbClr val="F5F5F7"/>
              </a:gs>
            </a:gsLst>
            <a:lin ang="10800025" scaled="0"/>
          </a:gradFill>
          <a:ln>
            <a:noFill/>
          </a:ln>
        </p:spPr>
        <p:txBody>
          <a:bodyPr spcFirstLastPara="1" wrap="square" lIns="72000" tIns="108000" rIns="72000" bIns="45700" anchor="t" anchorCtr="0">
            <a:noAutofit/>
          </a:bodyPr>
          <a:lstStyle/>
          <a:p>
            <a:pPr marL="0" marR="0" lvl="0" indent="0" algn="l" rtl="0">
              <a:lnSpc>
                <a:spcPct val="100000"/>
              </a:lnSpc>
              <a:spcBef>
                <a:spcPts val="0"/>
              </a:spcBef>
              <a:spcAft>
                <a:spcPts val="0"/>
              </a:spcAft>
              <a:buClr>
                <a:schemeClr val="dk1"/>
              </a:buClr>
              <a:buSzPts val="1050"/>
              <a:buFont typeface="Arial"/>
              <a:buNone/>
            </a:pPr>
            <a:endParaRPr sz="1050" b="1" i="0" u="none" strike="noStrike" cap="none">
              <a:solidFill>
                <a:schemeClr val="dk1"/>
              </a:solidFill>
              <a:latin typeface="Calibri"/>
              <a:ea typeface="Calibri"/>
              <a:cs typeface="Calibri"/>
              <a:sym typeface="Calibri"/>
            </a:endParaRPr>
          </a:p>
        </p:txBody>
      </p:sp>
      <p:sp>
        <p:nvSpPr>
          <p:cNvPr id="1684" name="Google Shape;1684;g3c85409342f_0_9"/>
          <p:cNvSpPr/>
          <p:nvPr/>
        </p:nvSpPr>
        <p:spPr>
          <a:xfrm>
            <a:off x="10554511" y="455052"/>
            <a:ext cx="1496389" cy="2703172"/>
          </a:xfrm>
          <a:custGeom>
            <a:avLst/>
            <a:gdLst/>
            <a:ahLst/>
            <a:cxnLst/>
            <a:rect l="l" t="t" r="r" b="b"/>
            <a:pathLst>
              <a:path w="187635" h="550264" extrusionOk="0">
                <a:moveTo>
                  <a:pt x="0" y="0"/>
                </a:moveTo>
                <a:lnTo>
                  <a:pt x="187635" y="0"/>
                </a:lnTo>
                <a:lnTo>
                  <a:pt x="187635" y="550264"/>
                </a:lnTo>
                <a:lnTo>
                  <a:pt x="0" y="550264"/>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85" name="Google Shape;1685;g3c85409342f_0_9"/>
          <p:cNvSpPr/>
          <p:nvPr/>
        </p:nvSpPr>
        <p:spPr>
          <a:xfrm>
            <a:off x="0" y="6235430"/>
            <a:ext cx="12192289" cy="622742"/>
          </a:xfrm>
          <a:custGeom>
            <a:avLst/>
            <a:gdLst/>
            <a:ahLst/>
            <a:cxnLst/>
            <a:rect l="l" t="t" r="r" b="b"/>
            <a:pathLst>
              <a:path w="344634" h="518952" extrusionOk="0">
                <a:moveTo>
                  <a:pt x="0" y="0"/>
                </a:moveTo>
                <a:lnTo>
                  <a:pt x="344634" y="0"/>
                </a:lnTo>
                <a:lnTo>
                  <a:pt x="344634" y="518952"/>
                </a:lnTo>
                <a:lnTo>
                  <a:pt x="0" y="518952"/>
                </a:lnTo>
                <a:close/>
              </a:path>
            </a:pathLst>
          </a:custGeom>
          <a:gradFill>
            <a:gsLst>
              <a:gs pos="0">
                <a:srgbClr val="FEF4E8"/>
              </a:gs>
              <a:gs pos="100000">
                <a:srgbClr val="FEE8CF"/>
              </a:gs>
            </a:gsLst>
            <a:lin ang="2700006" scaled="0"/>
          </a:gradFill>
          <a:ln>
            <a:noFill/>
          </a:ln>
        </p:spPr>
        <p:txBody>
          <a:bodyPr spcFirstLastPara="1" wrap="square" lIns="72000" tIns="108000" rIns="72000" bIns="45700" anchor="t" anchorCtr="0">
            <a:noAutofit/>
          </a:bodyPr>
          <a:lstStyle/>
          <a:p>
            <a:pPr marL="0" marR="0" lvl="0" indent="0" algn="l" rtl="0">
              <a:lnSpc>
                <a:spcPct val="100000"/>
              </a:lnSpc>
              <a:spcBef>
                <a:spcPts val="0"/>
              </a:spcBef>
              <a:spcAft>
                <a:spcPts val="0"/>
              </a:spcAft>
              <a:buClr>
                <a:schemeClr val="dk1"/>
              </a:buClr>
              <a:buSzPts val="1050"/>
              <a:buFont typeface="Arial"/>
              <a:buNone/>
            </a:pPr>
            <a:endParaRPr sz="1050" b="1" i="0" u="none" strike="noStrike" cap="none">
              <a:solidFill>
                <a:schemeClr val="dk1"/>
              </a:solidFill>
              <a:latin typeface="Calibri"/>
              <a:ea typeface="Calibri"/>
              <a:cs typeface="Calibri"/>
              <a:sym typeface="Calibri"/>
            </a:endParaRPr>
          </a:p>
        </p:txBody>
      </p:sp>
      <p:sp>
        <p:nvSpPr>
          <p:cNvPr id="1686" name="Google Shape;1686;g3c85409342f_0_9"/>
          <p:cNvSpPr txBox="1"/>
          <p:nvPr/>
        </p:nvSpPr>
        <p:spPr>
          <a:xfrm>
            <a:off x="473842" y="2554561"/>
            <a:ext cx="5906400" cy="6033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chemeClr val="accent1"/>
              </a:buClr>
              <a:buSzPts val="3000"/>
              <a:buFont typeface="Poppins Medium"/>
              <a:buNone/>
            </a:pPr>
            <a:r>
              <a:rPr lang="en-US" sz="4100" b="0" i="0" u="none" strike="noStrike" cap="none" dirty="0">
                <a:solidFill>
                  <a:schemeClr val="accent1"/>
                </a:solidFill>
                <a:latin typeface="Poppins Medium"/>
                <a:ea typeface="Poppins Medium"/>
                <a:cs typeface="Poppins Medium"/>
                <a:sym typeface="Poppins Medium"/>
              </a:rPr>
              <a:t>MLC Team Status</a:t>
            </a:r>
            <a:endParaRPr sz="4100" b="0" i="0" u="none" strike="noStrike" cap="none" dirty="0">
              <a:solidFill>
                <a:schemeClr val="accent1"/>
              </a:solidFill>
              <a:latin typeface="Poppins Medium"/>
              <a:ea typeface="Poppins Medium"/>
              <a:cs typeface="Poppins Medium"/>
              <a:sym typeface="Poppins Medium"/>
            </a:endParaRPr>
          </a:p>
        </p:txBody>
      </p:sp>
      <p:sp>
        <p:nvSpPr>
          <p:cNvPr id="1687" name="Google Shape;1687;g3c85409342f_0_9"/>
          <p:cNvSpPr txBox="1"/>
          <p:nvPr/>
        </p:nvSpPr>
        <p:spPr>
          <a:xfrm>
            <a:off x="473842" y="3353564"/>
            <a:ext cx="5726100" cy="115856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Poppins"/>
              <a:buNone/>
            </a:pPr>
            <a:r>
              <a:rPr lang="en-US" sz="2200" b="0" i="0" u="none" strike="noStrike" cap="none" dirty="0">
                <a:solidFill>
                  <a:srgbClr val="000000"/>
                </a:solidFill>
                <a:latin typeface="Poppins"/>
                <a:ea typeface="Poppins"/>
                <a:cs typeface="Poppins"/>
                <a:sym typeface="Poppins"/>
              </a:rPr>
              <a:t>AI Ignite</a:t>
            </a:r>
          </a:p>
          <a:p>
            <a:pPr marL="0" marR="0" lvl="0" indent="0" algn="l" rtl="0">
              <a:lnSpc>
                <a:spcPct val="100000"/>
              </a:lnSpc>
              <a:spcBef>
                <a:spcPts val="0"/>
              </a:spcBef>
              <a:spcAft>
                <a:spcPts val="0"/>
              </a:spcAft>
              <a:buClr>
                <a:srgbClr val="000000"/>
              </a:buClr>
              <a:buSzPts val="1400"/>
              <a:buFont typeface="Poppins"/>
              <a:buNone/>
            </a:pPr>
            <a:r>
              <a:rPr lang="en-US" sz="2200" dirty="0">
                <a:latin typeface="Poppins"/>
                <a:ea typeface="Poppins"/>
                <a:cs typeface="Poppins"/>
                <a:sym typeface="Poppins"/>
              </a:rPr>
              <a:t>Select Star</a:t>
            </a:r>
          </a:p>
          <a:p>
            <a:pPr marL="0" marR="0" lvl="0" indent="0" algn="l" rtl="0">
              <a:lnSpc>
                <a:spcPct val="100000"/>
              </a:lnSpc>
              <a:spcBef>
                <a:spcPts val="0"/>
              </a:spcBef>
              <a:spcAft>
                <a:spcPts val="0"/>
              </a:spcAft>
              <a:buClr>
                <a:srgbClr val="000000"/>
              </a:buClr>
              <a:buSzPts val="1400"/>
              <a:buFont typeface="Poppins"/>
              <a:buNone/>
            </a:pPr>
            <a:r>
              <a:rPr lang="en-US" sz="2200" b="0" i="0" u="none" strike="noStrike" cap="none" dirty="0" err="1">
                <a:solidFill>
                  <a:srgbClr val="000000"/>
                </a:solidFill>
                <a:latin typeface="Poppins"/>
                <a:ea typeface="Poppins"/>
                <a:cs typeface="Poppins"/>
                <a:sym typeface="Poppins"/>
              </a:rPr>
              <a:t>Mathemagicians</a:t>
            </a:r>
            <a:endParaRPr sz="2200" b="0" i="0" u="none" strike="noStrike" cap="none" dirty="0">
              <a:solidFill>
                <a:srgbClr val="000000"/>
              </a:solidFill>
              <a:latin typeface="Poppins"/>
              <a:ea typeface="Poppins"/>
              <a:cs typeface="Poppins"/>
              <a:sym typeface="Poppins"/>
            </a:endParaRPr>
          </a:p>
        </p:txBody>
      </p:sp>
      <p:sp>
        <p:nvSpPr>
          <p:cNvPr id="1688" name="Google Shape;1688;g3c85409342f_0_9"/>
          <p:cNvSpPr txBox="1"/>
          <p:nvPr/>
        </p:nvSpPr>
        <p:spPr>
          <a:xfrm>
            <a:off x="473842" y="4715400"/>
            <a:ext cx="5544900" cy="386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Poppins"/>
              <a:buNone/>
            </a:pPr>
            <a:r>
              <a:rPr lang="en-US" dirty="0">
                <a:latin typeface="Poppins"/>
                <a:ea typeface="Poppins"/>
                <a:cs typeface="Poppins"/>
                <a:sym typeface="Poppins"/>
              </a:rPr>
              <a:t>Oct</a:t>
            </a:r>
            <a:r>
              <a:rPr lang="en-US" sz="1400" b="0" i="0" u="none" strike="noStrike" cap="none" dirty="0">
                <a:solidFill>
                  <a:srgbClr val="000000"/>
                </a:solidFill>
                <a:latin typeface="Poppins"/>
                <a:ea typeface="Poppins"/>
                <a:cs typeface="Poppins"/>
                <a:sym typeface="Poppins"/>
              </a:rPr>
              <a:t> 2026</a:t>
            </a:r>
            <a:endParaRPr sz="1200" b="0" i="0" u="none" strike="noStrike" cap="none" dirty="0">
              <a:solidFill>
                <a:srgbClr val="000000"/>
              </a:solidFill>
              <a:latin typeface="Arial"/>
              <a:ea typeface="Arial"/>
              <a:cs typeface="Arial"/>
              <a:sym typeface="Arial"/>
            </a:endParaRPr>
          </a:p>
        </p:txBody>
      </p:sp>
      <p:sp>
        <p:nvSpPr>
          <p:cNvPr id="1690" name="Google Shape;1690;g3c85409342f_0_9"/>
          <p:cNvSpPr/>
          <p:nvPr/>
        </p:nvSpPr>
        <p:spPr>
          <a:xfrm>
            <a:off x="0" y="1086948"/>
            <a:ext cx="141195" cy="4684122"/>
          </a:xfrm>
          <a:custGeom>
            <a:avLst/>
            <a:gdLst/>
            <a:ahLst/>
            <a:cxnLst/>
            <a:rect l="l" t="t" r="r" b="b"/>
            <a:pathLst>
              <a:path w="187635" h="550264" extrusionOk="0">
                <a:moveTo>
                  <a:pt x="0" y="0"/>
                </a:moveTo>
                <a:lnTo>
                  <a:pt x="187635" y="0"/>
                </a:lnTo>
                <a:lnTo>
                  <a:pt x="187635" y="550264"/>
                </a:lnTo>
                <a:lnTo>
                  <a:pt x="0" y="550264"/>
                </a:lnTo>
                <a:close/>
              </a:path>
            </a:pathLst>
          </a:custGeom>
          <a:gradFill>
            <a:gsLst>
              <a:gs pos="0">
                <a:schemeClr val="accent1"/>
              </a:gs>
              <a:gs pos="23000">
                <a:schemeClr val="accent1"/>
              </a:gs>
              <a:gs pos="100000">
                <a:srgbClr val="FABC75"/>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800"/>
              <a:buFont typeface="Arial"/>
              <a:buNone/>
            </a:pPr>
            <a:endParaRPr sz="800" b="1" i="0" u="none" strike="noStrike" cap="none">
              <a:solidFill>
                <a:srgbClr val="FFFFFF"/>
              </a:solidFill>
              <a:latin typeface="Inter"/>
              <a:ea typeface="Inter"/>
              <a:cs typeface="Inter"/>
              <a:sym typeface="Inter"/>
            </a:endParaRPr>
          </a:p>
        </p:txBody>
      </p:sp>
      <p:pic>
        <p:nvPicPr>
          <p:cNvPr id="1691" name="Google Shape;1691;g3c85409342f_0_9" descr="A group of people in a room with a brain&#10;&#10;AI-generated content may be incorrect."/>
          <p:cNvPicPr preferRelativeResize="0"/>
          <p:nvPr/>
        </p:nvPicPr>
        <p:blipFill rotWithShape="1">
          <a:blip r:embed="rId4">
            <a:alphaModFix/>
          </a:blip>
          <a:srcRect l="12572" t="20564" r="12810"/>
          <a:stretch/>
        </p:blipFill>
        <p:spPr>
          <a:xfrm>
            <a:off x="6380242" y="524621"/>
            <a:ext cx="5613839" cy="5976054"/>
          </a:xfrm>
          <a:prstGeom prst="rect">
            <a:avLst/>
          </a:prstGeom>
          <a:noFill/>
          <a:ln>
            <a:noFill/>
          </a:ln>
        </p:spPr>
      </p:pic>
      <p:pic>
        <p:nvPicPr>
          <p:cNvPr id="1692" name="Google Shape;1692;g3c85409342f_0_9" descr="Google Shape;25;p23"/>
          <p:cNvPicPr preferRelativeResize="0"/>
          <p:nvPr/>
        </p:nvPicPr>
        <p:blipFill rotWithShape="1">
          <a:blip r:embed="rId5">
            <a:alphaModFix/>
          </a:blip>
          <a:srcRect/>
          <a:stretch/>
        </p:blipFill>
        <p:spPr>
          <a:xfrm>
            <a:off x="3464643" y="278084"/>
            <a:ext cx="1080700" cy="447531"/>
          </a:xfrm>
          <a:prstGeom prst="rect">
            <a:avLst/>
          </a:prstGeom>
          <a:noFill/>
          <a:ln>
            <a:noFill/>
          </a:ln>
        </p:spPr>
      </p:pic>
      <p:cxnSp>
        <p:nvCxnSpPr>
          <p:cNvPr id="1693" name="Google Shape;1693;g3c85409342f_0_9"/>
          <p:cNvCxnSpPr/>
          <p:nvPr/>
        </p:nvCxnSpPr>
        <p:spPr>
          <a:xfrm>
            <a:off x="3231790" y="211772"/>
            <a:ext cx="0" cy="592200"/>
          </a:xfrm>
          <a:prstGeom prst="straightConnector1">
            <a:avLst/>
          </a:prstGeom>
          <a:noFill/>
          <a:ln w="9525" cap="flat" cmpd="sng">
            <a:solidFill>
              <a:schemeClr val="dk2"/>
            </a:solidFill>
            <a:prstDash val="solid"/>
            <a:round/>
            <a:headEnd type="none" w="sm" len="sm"/>
            <a:tailEnd type="none" w="sm" len="sm"/>
          </a:ln>
        </p:spPr>
      </p:cxnSp>
      <p:pic>
        <p:nvPicPr>
          <p:cNvPr id="1694" name="Google Shape;1694;g3c85409342f_0_9"/>
          <p:cNvPicPr preferRelativeResize="0"/>
          <p:nvPr/>
        </p:nvPicPr>
        <p:blipFill rotWithShape="1">
          <a:blip r:embed="rId6">
            <a:alphaModFix/>
          </a:blip>
          <a:srcRect t="24654" b="29780"/>
          <a:stretch/>
        </p:blipFill>
        <p:spPr>
          <a:xfrm>
            <a:off x="174087" y="111240"/>
            <a:ext cx="2824851" cy="678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D8ED05-B7FE-F435-B3CF-C0CB40EC93DD}"/>
              </a:ext>
            </a:extLst>
          </p:cNvPr>
          <p:cNvSpPr>
            <a:spLocks noGrp="1"/>
          </p:cNvSpPr>
          <p:nvPr>
            <p:ph type="body" idx="1"/>
          </p:nvPr>
        </p:nvSpPr>
        <p:spPr/>
        <p:txBody>
          <a:bodyPr/>
          <a:lstStyle/>
          <a:p>
            <a:r>
              <a:rPr lang="en-US" dirty="0"/>
              <a:t>AI Ignite Team: Weekly Status</a:t>
            </a:r>
          </a:p>
        </p:txBody>
      </p:sp>
      <p:sp>
        <p:nvSpPr>
          <p:cNvPr id="3" name="TextBox 2">
            <a:extLst>
              <a:ext uri="{FF2B5EF4-FFF2-40B4-BE49-F238E27FC236}">
                <a16:creationId xmlns:a16="http://schemas.microsoft.com/office/drawing/2014/main" id="{20CD8E1F-F6C0-68EC-F1D4-BFAB3D4ABD5E}"/>
              </a:ext>
            </a:extLst>
          </p:cNvPr>
          <p:cNvSpPr txBox="1"/>
          <p:nvPr/>
        </p:nvSpPr>
        <p:spPr>
          <a:xfrm>
            <a:off x="345440" y="1030471"/>
            <a:ext cx="5963920" cy="1600438"/>
          </a:xfrm>
          <a:prstGeom prst="rect">
            <a:avLst/>
          </a:prstGeom>
          <a:noFill/>
        </p:spPr>
        <p:txBody>
          <a:bodyPr wrap="square" rtlCol="0">
            <a:spAutoFit/>
          </a:bodyPr>
          <a:lstStyle/>
          <a:p>
            <a:r>
              <a:rPr lang="en-US" b="1" dirty="0">
                <a:solidFill>
                  <a:schemeClr val="accent1"/>
                </a:solidFill>
              </a:rPr>
              <a:t>Summary</a:t>
            </a:r>
          </a:p>
          <a:p>
            <a:endParaRPr lang="en-US" dirty="0"/>
          </a:p>
          <a:p>
            <a:r>
              <a:rPr lang="en-US" dirty="0"/>
              <a:t>AI Ignite team members are engaged in following tasks</a:t>
            </a:r>
          </a:p>
          <a:p>
            <a:pPr marL="342900" indent="-342900">
              <a:buAutoNum type="arabicPeriod"/>
            </a:pPr>
            <a:r>
              <a:rPr lang="en-US" dirty="0"/>
              <a:t>Supporting Small Commercial in their Agentic transformation journey</a:t>
            </a:r>
          </a:p>
          <a:p>
            <a:pPr marL="342900" indent="-342900">
              <a:buAutoNum type="arabicPeriod"/>
            </a:pPr>
            <a:r>
              <a:rPr lang="en-US" dirty="0"/>
              <a:t>Developing Convo AI chat application</a:t>
            </a:r>
          </a:p>
          <a:p>
            <a:pPr marL="342900" indent="-342900">
              <a:buAutoNum type="arabicPeriod"/>
            </a:pPr>
            <a:r>
              <a:rPr lang="en-US" dirty="0"/>
              <a:t>Production Support for IKE chat application</a:t>
            </a:r>
          </a:p>
          <a:p>
            <a:pPr marL="342900" indent="-342900">
              <a:buAutoNum type="arabicPeriod"/>
            </a:pPr>
            <a:endParaRPr lang="en-US" dirty="0"/>
          </a:p>
        </p:txBody>
      </p:sp>
      <p:sp>
        <p:nvSpPr>
          <p:cNvPr id="4" name="TextBox 3">
            <a:extLst>
              <a:ext uri="{FF2B5EF4-FFF2-40B4-BE49-F238E27FC236}">
                <a16:creationId xmlns:a16="http://schemas.microsoft.com/office/drawing/2014/main" id="{8D0E763C-31BF-A781-C3BF-9104BC9D3C3F}"/>
              </a:ext>
            </a:extLst>
          </p:cNvPr>
          <p:cNvSpPr txBox="1"/>
          <p:nvPr/>
        </p:nvSpPr>
        <p:spPr>
          <a:xfrm>
            <a:off x="6376035" y="876583"/>
            <a:ext cx="2753360" cy="307777"/>
          </a:xfrm>
          <a:prstGeom prst="rect">
            <a:avLst/>
          </a:prstGeom>
          <a:noFill/>
        </p:spPr>
        <p:txBody>
          <a:bodyPr wrap="square" rtlCol="0">
            <a:spAutoFit/>
          </a:bodyPr>
          <a:lstStyle/>
          <a:p>
            <a:r>
              <a:rPr lang="en-US" b="1" dirty="0">
                <a:solidFill>
                  <a:schemeClr val="accent1"/>
                </a:solidFill>
              </a:rPr>
              <a:t>Team and Allocation</a:t>
            </a:r>
          </a:p>
        </p:txBody>
      </p:sp>
      <p:graphicFrame>
        <p:nvGraphicFramePr>
          <p:cNvPr id="5" name="Table 4">
            <a:extLst>
              <a:ext uri="{FF2B5EF4-FFF2-40B4-BE49-F238E27FC236}">
                <a16:creationId xmlns:a16="http://schemas.microsoft.com/office/drawing/2014/main" id="{9F5F143C-509A-FBD9-9BDC-3DFDEA119E67}"/>
              </a:ext>
            </a:extLst>
          </p:cNvPr>
          <p:cNvGraphicFramePr>
            <a:graphicFrameLocks noGrp="1"/>
          </p:cNvGraphicFramePr>
          <p:nvPr>
            <p:extLst>
              <p:ext uri="{D42A27DB-BD31-4B8C-83A1-F6EECF244321}">
                <p14:modId xmlns:p14="http://schemas.microsoft.com/office/powerpoint/2010/main" val="2721225431"/>
              </p:ext>
            </p:extLst>
          </p:nvPr>
        </p:nvGraphicFramePr>
        <p:xfrm>
          <a:off x="6776720" y="1260322"/>
          <a:ext cx="4612640" cy="1916682"/>
        </p:xfrm>
        <a:graphic>
          <a:graphicData uri="http://schemas.openxmlformats.org/drawingml/2006/table">
            <a:tbl>
              <a:tblPr firstRow="1" bandRow="1">
                <a:tableStyleId>{3C2FFA5D-87B4-456A-9821-1D502468CF0F}</a:tableStyleId>
              </a:tblPr>
              <a:tblGrid>
                <a:gridCol w="1615440">
                  <a:extLst>
                    <a:ext uri="{9D8B030D-6E8A-4147-A177-3AD203B41FA5}">
                      <a16:colId xmlns:a16="http://schemas.microsoft.com/office/drawing/2014/main" val="4230730890"/>
                    </a:ext>
                  </a:extLst>
                </a:gridCol>
                <a:gridCol w="2997200">
                  <a:extLst>
                    <a:ext uri="{9D8B030D-6E8A-4147-A177-3AD203B41FA5}">
                      <a16:colId xmlns:a16="http://schemas.microsoft.com/office/drawing/2014/main" val="3008117857"/>
                    </a:ext>
                  </a:extLst>
                </a:gridCol>
              </a:tblGrid>
              <a:tr h="319447">
                <a:tc>
                  <a:txBody>
                    <a:bodyPr/>
                    <a:lstStyle/>
                    <a:p>
                      <a:r>
                        <a:rPr lang="en-US" dirty="0"/>
                        <a:t>Team member</a:t>
                      </a:r>
                    </a:p>
                  </a:txBody>
                  <a:tcPr/>
                </a:tc>
                <a:tc>
                  <a:txBody>
                    <a:bodyPr/>
                    <a:lstStyle/>
                    <a:p>
                      <a:r>
                        <a:rPr lang="en-US" dirty="0"/>
                        <a:t>Allocation</a:t>
                      </a:r>
                    </a:p>
                  </a:txBody>
                  <a:tcPr/>
                </a:tc>
                <a:extLst>
                  <a:ext uri="{0D108BD9-81ED-4DB2-BD59-A6C34878D82A}">
                    <a16:rowId xmlns:a16="http://schemas.microsoft.com/office/drawing/2014/main" val="3695899915"/>
                  </a:ext>
                </a:extLst>
              </a:tr>
              <a:tr h="319447">
                <a:tc>
                  <a:txBody>
                    <a:bodyPr/>
                    <a:lstStyle/>
                    <a:p>
                      <a:r>
                        <a:rPr lang="en-US" dirty="0"/>
                        <a:t>Sid</a:t>
                      </a:r>
                    </a:p>
                  </a:txBody>
                  <a:tcPr/>
                </a:tc>
                <a:tc>
                  <a:txBody>
                    <a:bodyPr/>
                    <a:lstStyle/>
                    <a:p>
                      <a:r>
                        <a:rPr lang="en-US" dirty="0"/>
                        <a:t>Small Commercial, AI Ignite</a:t>
                      </a:r>
                    </a:p>
                  </a:txBody>
                  <a:tcPr/>
                </a:tc>
                <a:extLst>
                  <a:ext uri="{0D108BD9-81ED-4DB2-BD59-A6C34878D82A}">
                    <a16:rowId xmlns:a16="http://schemas.microsoft.com/office/drawing/2014/main" val="2524263022"/>
                  </a:ext>
                </a:extLst>
              </a:tr>
              <a:tr h="319447">
                <a:tc>
                  <a:txBody>
                    <a:bodyPr/>
                    <a:lstStyle/>
                    <a:p>
                      <a:r>
                        <a:rPr lang="en-US" dirty="0"/>
                        <a:t>Suchitra</a:t>
                      </a:r>
                    </a:p>
                  </a:txBody>
                  <a:tcPr/>
                </a:tc>
                <a:tc>
                  <a:txBody>
                    <a:bodyPr/>
                    <a:lstStyle/>
                    <a:p>
                      <a:r>
                        <a:rPr lang="en-US" dirty="0"/>
                        <a:t>Small Commercial, AI Ignite</a:t>
                      </a:r>
                    </a:p>
                  </a:txBody>
                  <a:tcPr/>
                </a:tc>
                <a:extLst>
                  <a:ext uri="{0D108BD9-81ED-4DB2-BD59-A6C34878D82A}">
                    <a16:rowId xmlns:a16="http://schemas.microsoft.com/office/drawing/2014/main" val="3605829822"/>
                  </a:ext>
                </a:extLst>
              </a:tr>
              <a:tr h="319447">
                <a:tc>
                  <a:txBody>
                    <a:bodyPr/>
                    <a:lstStyle/>
                    <a:p>
                      <a:r>
                        <a:rPr lang="en-US" dirty="0"/>
                        <a:t>Prajwal</a:t>
                      </a:r>
                    </a:p>
                  </a:txBody>
                  <a:tcPr/>
                </a:tc>
                <a:tc>
                  <a:txBody>
                    <a:bodyPr/>
                    <a:lstStyle/>
                    <a:p>
                      <a:r>
                        <a:rPr lang="en-US" dirty="0"/>
                        <a:t>Convo AI Chat App</a:t>
                      </a:r>
                    </a:p>
                  </a:txBody>
                  <a:tcPr/>
                </a:tc>
                <a:extLst>
                  <a:ext uri="{0D108BD9-81ED-4DB2-BD59-A6C34878D82A}">
                    <a16:rowId xmlns:a16="http://schemas.microsoft.com/office/drawing/2014/main" val="3824954500"/>
                  </a:ext>
                </a:extLst>
              </a:tr>
              <a:tr h="319447">
                <a:tc>
                  <a:txBody>
                    <a:bodyPr/>
                    <a:lstStyle/>
                    <a:p>
                      <a:r>
                        <a:rPr lang="en-US" dirty="0"/>
                        <a:t>Venkat</a:t>
                      </a:r>
                    </a:p>
                  </a:txBody>
                  <a:tcPr/>
                </a:tc>
                <a:tc>
                  <a:txBody>
                    <a:bodyPr/>
                    <a:lstStyle/>
                    <a:p>
                      <a:r>
                        <a:rPr lang="en-US" dirty="0"/>
                        <a:t>Convo AI Chat App</a:t>
                      </a:r>
                    </a:p>
                  </a:txBody>
                  <a:tcPr/>
                </a:tc>
                <a:extLst>
                  <a:ext uri="{0D108BD9-81ED-4DB2-BD59-A6C34878D82A}">
                    <a16:rowId xmlns:a16="http://schemas.microsoft.com/office/drawing/2014/main" val="167745354"/>
                  </a:ext>
                </a:extLst>
              </a:tr>
              <a:tr h="319447">
                <a:tc>
                  <a:txBody>
                    <a:bodyPr/>
                    <a:lstStyle/>
                    <a:p>
                      <a:r>
                        <a:rPr lang="en-US" dirty="0"/>
                        <a:t>Moeen</a:t>
                      </a:r>
                    </a:p>
                  </a:txBody>
                  <a:tcPr/>
                </a:tc>
                <a:tc>
                  <a:txBody>
                    <a:bodyPr/>
                    <a:lstStyle/>
                    <a:p>
                      <a:r>
                        <a:rPr lang="en-US" dirty="0"/>
                        <a:t>Convo AI and IKE Chat App</a:t>
                      </a:r>
                    </a:p>
                  </a:txBody>
                  <a:tcPr/>
                </a:tc>
                <a:extLst>
                  <a:ext uri="{0D108BD9-81ED-4DB2-BD59-A6C34878D82A}">
                    <a16:rowId xmlns:a16="http://schemas.microsoft.com/office/drawing/2014/main" val="2979058560"/>
                  </a:ext>
                </a:extLst>
              </a:tr>
            </a:tbl>
          </a:graphicData>
        </a:graphic>
      </p:graphicFrame>
      <p:cxnSp>
        <p:nvCxnSpPr>
          <p:cNvPr id="7" name="Straight Connector 6">
            <a:extLst>
              <a:ext uri="{FF2B5EF4-FFF2-40B4-BE49-F238E27FC236}">
                <a16:creationId xmlns:a16="http://schemas.microsoft.com/office/drawing/2014/main" id="{4280303F-6E93-51D1-47DD-66C231EF9FA1}"/>
              </a:ext>
            </a:extLst>
          </p:cNvPr>
          <p:cNvCxnSpPr>
            <a:cxnSpLocks/>
          </p:cNvCxnSpPr>
          <p:nvPr/>
        </p:nvCxnSpPr>
        <p:spPr>
          <a:xfrm>
            <a:off x="6309360" y="3496528"/>
            <a:ext cx="0" cy="321923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46201AF-17EC-5AA2-D17D-A8C55DBA3E8D}"/>
              </a:ext>
            </a:extLst>
          </p:cNvPr>
          <p:cNvSpPr txBox="1"/>
          <p:nvPr/>
        </p:nvSpPr>
        <p:spPr>
          <a:xfrm>
            <a:off x="345440" y="3345192"/>
            <a:ext cx="3413758" cy="307777"/>
          </a:xfrm>
          <a:prstGeom prst="rect">
            <a:avLst/>
          </a:prstGeom>
          <a:noFill/>
        </p:spPr>
        <p:txBody>
          <a:bodyPr wrap="square" rtlCol="0">
            <a:spAutoFit/>
          </a:bodyPr>
          <a:lstStyle/>
          <a:p>
            <a:r>
              <a:rPr lang="en-US" b="1" u="sng" dirty="0">
                <a:solidFill>
                  <a:schemeClr val="accent1"/>
                </a:solidFill>
              </a:rPr>
              <a:t>Accomplishments this week</a:t>
            </a:r>
          </a:p>
        </p:txBody>
      </p:sp>
      <p:sp>
        <p:nvSpPr>
          <p:cNvPr id="10" name="TextBox 9">
            <a:extLst>
              <a:ext uri="{FF2B5EF4-FFF2-40B4-BE49-F238E27FC236}">
                <a16:creationId xmlns:a16="http://schemas.microsoft.com/office/drawing/2014/main" id="{5ADD29B9-CA83-F6BA-FA6C-DC128876D276}"/>
              </a:ext>
            </a:extLst>
          </p:cNvPr>
          <p:cNvSpPr txBox="1"/>
          <p:nvPr/>
        </p:nvSpPr>
        <p:spPr>
          <a:xfrm>
            <a:off x="6522722" y="3345192"/>
            <a:ext cx="3413758" cy="307777"/>
          </a:xfrm>
          <a:prstGeom prst="rect">
            <a:avLst/>
          </a:prstGeom>
          <a:noFill/>
        </p:spPr>
        <p:txBody>
          <a:bodyPr wrap="square" rtlCol="0">
            <a:spAutoFit/>
          </a:bodyPr>
          <a:lstStyle/>
          <a:p>
            <a:r>
              <a:rPr lang="en-US" b="1" u="sng" dirty="0">
                <a:solidFill>
                  <a:schemeClr val="accent1"/>
                </a:solidFill>
              </a:rPr>
              <a:t>Tasks for next week</a:t>
            </a:r>
          </a:p>
        </p:txBody>
      </p:sp>
      <p:sp>
        <p:nvSpPr>
          <p:cNvPr id="12" name="TextBox 11">
            <a:extLst>
              <a:ext uri="{FF2B5EF4-FFF2-40B4-BE49-F238E27FC236}">
                <a16:creationId xmlns:a16="http://schemas.microsoft.com/office/drawing/2014/main" id="{D0A48842-7303-759D-9608-005770747DB3}"/>
              </a:ext>
            </a:extLst>
          </p:cNvPr>
          <p:cNvSpPr txBox="1"/>
          <p:nvPr/>
        </p:nvSpPr>
        <p:spPr>
          <a:xfrm>
            <a:off x="345440" y="3799840"/>
            <a:ext cx="5750559" cy="1815882"/>
          </a:xfrm>
          <a:prstGeom prst="rect">
            <a:avLst/>
          </a:prstGeom>
          <a:noFill/>
        </p:spPr>
        <p:txBody>
          <a:bodyPr wrap="square" rtlCol="0">
            <a:spAutoFit/>
          </a:bodyPr>
          <a:lstStyle/>
          <a:p>
            <a:pPr marL="342900" indent="-342900">
              <a:buAutoNum type="arabicPeriod"/>
            </a:pPr>
            <a:r>
              <a:rPr lang="en-US" dirty="0"/>
              <a:t>Suchitra: Risk Like Mine – agent development and update</a:t>
            </a:r>
          </a:p>
          <a:p>
            <a:pPr marL="342900" indent="-342900">
              <a:buAutoNum type="arabicPeriod"/>
            </a:pPr>
            <a:r>
              <a:rPr lang="en-US" dirty="0"/>
              <a:t>Prajwal: Developed OKF creation agent</a:t>
            </a:r>
          </a:p>
          <a:p>
            <a:pPr marL="342900" indent="-342900">
              <a:buAutoNum type="arabicPeriod"/>
            </a:pPr>
            <a:r>
              <a:rPr lang="en-US" dirty="0"/>
              <a:t>Prajwal: Dev branch PR with ADK 2.8 and session management</a:t>
            </a:r>
          </a:p>
          <a:p>
            <a:pPr marL="342900" indent="-342900">
              <a:buAutoNum type="arabicPeriod"/>
            </a:pPr>
            <a:r>
              <a:rPr lang="en-US" dirty="0"/>
              <a:t>Moeen: Agent engine deployment using ADK 1.3</a:t>
            </a:r>
          </a:p>
          <a:p>
            <a:pPr marL="342900" indent="-342900">
              <a:buAutoNum type="arabicPeriod"/>
            </a:pPr>
            <a:r>
              <a:rPr lang="en-US" dirty="0"/>
              <a:t>Moeen: IKE app security vulnerability</a:t>
            </a:r>
          </a:p>
          <a:p>
            <a:pPr marL="342900" indent="-342900">
              <a:buAutoNum type="arabicPeriod"/>
            </a:pPr>
            <a:r>
              <a:rPr lang="en-US" dirty="0"/>
              <a:t>Moeen: IKE app 400 and 500 error alert monitoring</a:t>
            </a:r>
          </a:p>
          <a:p>
            <a:pPr marL="342900" indent="-342900">
              <a:buAutoNum type="arabicPeriod"/>
            </a:pPr>
            <a:r>
              <a:rPr lang="en-US" dirty="0"/>
              <a:t>Moeen: IKE Prod monitoring</a:t>
            </a:r>
          </a:p>
          <a:p>
            <a:pPr marL="342900" indent="-342900">
              <a:buAutoNum type="arabicPeriod"/>
            </a:pPr>
            <a:r>
              <a:rPr lang="en-US" dirty="0"/>
              <a:t>Venkat: combining Web and KB search responses</a:t>
            </a:r>
          </a:p>
        </p:txBody>
      </p:sp>
      <p:sp>
        <p:nvSpPr>
          <p:cNvPr id="14" name="TextBox 13">
            <a:extLst>
              <a:ext uri="{FF2B5EF4-FFF2-40B4-BE49-F238E27FC236}">
                <a16:creationId xmlns:a16="http://schemas.microsoft.com/office/drawing/2014/main" id="{C78F5D26-C380-259B-48FD-488950FFC117}"/>
              </a:ext>
            </a:extLst>
          </p:cNvPr>
          <p:cNvSpPr txBox="1"/>
          <p:nvPr/>
        </p:nvSpPr>
        <p:spPr>
          <a:xfrm>
            <a:off x="6522722" y="3821159"/>
            <a:ext cx="5750559" cy="1169551"/>
          </a:xfrm>
          <a:prstGeom prst="rect">
            <a:avLst/>
          </a:prstGeom>
          <a:noFill/>
        </p:spPr>
        <p:txBody>
          <a:bodyPr wrap="square" rtlCol="0">
            <a:spAutoFit/>
          </a:bodyPr>
          <a:lstStyle/>
          <a:p>
            <a:pPr marL="342900" indent="-342900">
              <a:buAutoNum type="arabicPeriod"/>
            </a:pPr>
            <a:r>
              <a:rPr lang="en-US" dirty="0"/>
              <a:t>Address Dev PR comments</a:t>
            </a:r>
          </a:p>
          <a:p>
            <a:pPr marL="342900" indent="-342900">
              <a:buAutoNum type="arabicPeriod"/>
            </a:pPr>
            <a:r>
              <a:rPr lang="en-US" dirty="0"/>
              <a:t>CUE UI integration with Fast API</a:t>
            </a:r>
          </a:p>
          <a:p>
            <a:pPr marL="342900" indent="-342900">
              <a:buAutoNum type="arabicPeriod"/>
            </a:pPr>
            <a:r>
              <a:rPr lang="en-US" dirty="0"/>
              <a:t>Deploy agent engine once runtime for ADK 2.x is made available</a:t>
            </a:r>
          </a:p>
          <a:p>
            <a:pPr marL="342900" indent="-342900">
              <a:buAutoNum type="arabicPeriod"/>
            </a:pPr>
            <a:r>
              <a:rPr lang="en-US" dirty="0"/>
              <a:t>Resolve summarizer agent</a:t>
            </a:r>
          </a:p>
          <a:p>
            <a:pPr marL="342900" indent="-342900">
              <a:buAutoNum type="arabicPeriod"/>
            </a:pPr>
            <a:r>
              <a:rPr lang="en-US" dirty="0"/>
              <a:t>Explore Graph RAG for convo AI</a:t>
            </a:r>
          </a:p>
        </p:txBody>
      </p:sp>
      <p:sp>
        <p:nvSpPr>
          <p:cNvPr id="15" name="TextBox 14">
            <a:extLst>
              <a:ext uri="{FF2B5EF4-FFF2-40B4-BE49-F238E27FC236}">
                <a16:creationId xmlns:a16="http://schemas.microsoft.com/office/drawing/2014/main" id="{2FD382CA-CBB9-6ED2-87D6-BB9D6EB38445}"/>
              </a:ext>
            </a:extLst>
          </p:cNvPr>
          <p:cNvSpPr txBox="1"/>
          <p:nvPr/>
        </p:nvSpPr>
        <p:spPr>
          <a:xfrm>
            <a:off x="9124950" y="246728"/>
            <a:ext cx="3067050" cy="307777"/>
          </a:xfrm>
          <a:prstGeom prst="rect">
            <a:avLst/>
          </a:prstGeom>
          <a:noFill/>
        </p:spPr>
        <p:txBody>
          <a:bodyPr wrap="square" rtlCol="0">
            <a:spAutoFit/>
          </a:bodyPr>
          <a:lstStyle/>
          <a:p>
            <a:r>
              <a:rPr lang="en-US" dirty="0"/>
              <a:t>Period Sept 28</a:t>
            </a:r>
            <a:r>
              <a:rPr lang="en-US" baseline="30000" dirty="0"/>
              <a:t>th</a:t>
            </a:r>
            <a:r>
              <a:rPr lang="en-US" dirty="0"/>
              <a:t> – Oct 2</a:t>
            </a:r>
            <a:r>
              <a:rPr lang="en-US" baseline="30000" dirty="0"/>
              <a:t>nd</a:t>
            </a:r>
            <a:r>
              <a:rPr lang="en-US" dirty="0"/>
              <a:t> 2026</a:t>
            </a:r>
          </a:p>
        </p:txBody>
      </p:sp>
    </p:spTree>
    <p:extLst>
      <p:ext uri="{BB962C8B-B14F-4D97-AF65-F5344CB8AC3E}">
        <p14:creationId xmlns:p14="http://schemas.microsoft.com/office/powerpoint/2010/main" val="1876772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C985A-5E93-BA60-DC3F-3C40516649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EDFF8E0-CDC1-CF96-4BDE-42229C28A230}"/>
              </a:ext>
            </a:extLst>
          </p:cNvPr>
          <p:cNvSpPr>
            <a:spLocks noGrp="1"/>
          </p:cNvSpPr>
          <p:nvPr>
            <p:ph type="body" idx="1"/>
          </p:nvPr>
        </p:nvSpPr>
        <p:spPr/>
        <p:txBody>
          <a:bodyPr/>
          <a:lstStyle/>
          <a:p>
            <a:r>
              <a:rPr lang="en-US" dirty="0"/>
              <a:t>Select Star: Weekly Status</a:t>
            </a:r>
          </a:p>
        </p:txBody>
      </p:sp>
      <p:sp>
        <p:nvSpPr>
          <p:cNvPr id="3" name="TextBox 2">
            <a:extLst>
              <a:ext uri="{FF2B5EF4-FFF2-40B4-BE49-F238E27FC236}">
                <a16:creationId xmlns:a16="http://schemas.microsoft.com/office/drawing/2014/main" id="{D884795D-AE2E-6065-477D-7A88FACA7042}"/>
              </a:ext>
            </a:extLst>
          </p:cNvPr>
          <p:cNvSpPr txBox="1"/>
          <p:nvPr/>
        </p:nvSpPr>
        <p:spPr>
          <a:xfrm>
            <a:off x="345440" y="1030471"/>
            <a:ext cx="5963920" cy="1169551"/>
          </a:xfrm>
          <a:prstGeom prst="rect">
            <a:avLst/>
          </a:prstGeom>
          <a:noFill/>
        </p:spPr>
        <p:txBody>
          <a:bodyPr wrap="square" rtlCol="0">
            <a:spAutoFit/>
          </a:bodyPr>
          <a:lstStyle/>
          <a:p>
            <a:r>
              <a:rPr lang="en-US" b="1" dirty="0">
                <a:solidFill>
                  <a:schemeClr val="accent1"/>
                </a:solidFill>
              </a:rPr>
              <a:t>Summary</a:t>
            </a:r>
          </a:p>
          <a:p>
            <a:endParaRPr lang="en-US" dirty="0"/>
          </a:p>
          <a:p>
            <a:r>
              <a:rPr lang="en-US" dirty="0"/>
              <a:t>AI Ignite team members are engaged in following tasks</a:t>
            </a:r>
          </a:p>
          <a:p>
            <a:pPr marL="342900" indent="-342900">
              <a:buAutoNum type="arabicPeriod"/>
            </a:pPr>
            <a:r>
              <a:rPr lang="en-US" dirty="0"/>
              <a:t>Report Automation</a:t>
            </a:r>
          </a:p>
          <a:p>
            <a:pPr marL="342900" indent="-342900">
              <a:buAutoNum type="arabicPeriod"/>
            </a:pPr>
            <a:r>
              <a:rPr lang="en-US" dirty="0"/>
              <a:t>Model Deployment</a:t>
            </a:r>
          </a:p>
        </p:txBody>
      </p:sp>
      <p:sp>
        <p:nvSpPr>
          <p:cNvPr id="4" name="TextBox 3">
            <a:extLst>
              <a:ext uri="{FF2B5EF4-FFF2-40B4-BE49-F238E27FC236}">
                <a16:creationId xmlns:a16="http://schemas.microsoft.com/office/drawing/2014/main" id="{78F767E7-9DA3-C248-C902-FA12CF5C3170}"/>
              </a:ext>
            </a:extLst>
          </p:cNvPr>
          <p:cNvSpPr txBox="1"/>
          <p:nvPr/>
        </p:nvSpPr>
        <p:spPr>
          <a:xfrm>
            <a:off x="6376035" y="876583"/>
            <a:ext cx="2753360" cy="307777"/>
          </a:xfrm>
          <a:prstGeom prst="rect">
            <a:avLst/>
          </a:prstGeom>
          <a:noFill/>
        </p:spPr>
        <p:txBody>
          <a:bodyPr wrap="square" rtlCol="0">
            <a:spAutoFit/>
          </a:bodyPr>
          <a:lstStyle/>
          <a:p>
            <a:r>
              <a:rPr lang="en-US" b="1" dirty="0">
                <a:solidFill>
                  <a:schemeClr val="accent1"/>
                </a:solidFill>
              </a:rPr>
              <a:t>Team and Allocation</a:t>
            </a:r>
          </a:p>
        </p:txBody>
      </p:sp>
      <p:graphicFrame>
        <p:nvGraphicFramePr>
          <p:cNvPr id="5" name="Table 4">
            <a:extLst>
              <a:ext uri="{FF2B5EF4-FFF2-40B4-BE49-F238E27FC236}">
                <a16:creationId xmlns:a16="http://schemas.microsoft.com/office/drawing/2014/main" id="{B56FCD41-1EF8-3EAF-F724-85F379D60D40}"/>
              </a:ext>
            </a:extLst>
          </p:cNvPr>
          <p:cNvGraphicFramePr>
            <a:graphicFrameLocks noGrp="1"/>
          </p:cNvGraphicFramePr>
          <p:nvPr>
            <p:extLst>
              <p:ext uri="{D42A27DB-BD31-4B8C-83A1-F6EECF244321}">
                <p14:modId xmlns:p14="http://schemas.microsoft.com/office/powerpoint/2010/main" val="1251653590"/>
              </p:ext>
            </p:extLst>
          </p:nvPr>
        </p:nvGraphicFramePr>
        <p:xfrm>
          <a:off x="6776720" y="1260322"/>
          <a:ext cx="3830320" cy="934239"/>
        </p:xfrm>
        <a:graphic>
          <a:graphicData uri="http://schemas.openxmlformats.org/drawingml/2006/table">
            <a:tbl>
              <a:tblPr firstRow="1" bandRow="1">
                <a:tableStyleId>{3C2FFA5D-87B4-456A-9821-1D502468CF0F}</a:tableStyleId>
              </a:tblPr>
              <a:tblGrid>
                <a:gridCol w="1499780">
                  <a:extLst>
                    <a:ext uri="{9D8B030D-6E8A-4147-A177-3AD203B41FA5}">
                      <a16:colId xmlns:a16="http://schemas.microsoft.com/office/drawing/2014/main" val="4230730890"/>
                    </a:ext>
                  </a:extLst>
                </a:gridCol>
                <a:gridCol w="2330540">
                  <a:extLst>
                    <a:ext uri="{9D8B030D-6E8A-4147-A177-3AD203B41FA5}">
                      <a16:colId xmlns:a16="http://schemas.microsoft.com/office/drawing/2014/main" val="3008117857"/>
                    </a:ext>
                  </a:extLst>
                </a:gridCol>
              </a:tblGrid>
              <a:tr h="311413">
                <a:tc>
                  <a:txBody>
                    <a:bodyPr/>
                    <a:lstStyle/>
                    <a:p>
                      <a:r>
                        <a:rPr lang="en-US" dirty="0"/>
                        <a:t>Team member</a:t>
                      </a:r>
                    </a:p>
                  </a:txBody>
                  <a:tcPr/>
                </a:tc>
                <a:tc>
                  <a:txBody>
                    <a:bodyPr/>
                    <a:lstStyle/>
                    <a:p>
                      <a:r>
                        <a:rPr lang="en-US" dirty="0"/>
                        <a:t>Allocation</a:t>
                      </a:r>
                    </a:p>
                  </a:txBody>
                  <a:tcPr/>
                </a:tc>
                <a:extLst>
                  <a:ext uri="{0D108BD9-81ED-4DB2-BD59-A6C34878D82A}">
                    <a16:rowId xmlns:a16="http://schemas.microsoft.com/office/drawing/2014/main" val="3695899915"/>
                  </a:ext>
                </a:extLst>
              </a:tr>
              <a:tr h="311413">
                <a:tc>
                  <a:txBody>
                    <a:bodyPr/>
                    <a:lstStyle/>
                    <a:p>
                      <a:r>
                        <a:rPr lang="en-US" dirty="0"/>
                        <a:t>Swaminathan</a:t>
                      </a:r>
                    </a:p>
                  </a:txBody>
                  <a:tcPr/>
                </a:tc>
                <a:tc>
                  <a:txBody>
                    <a:bodyPr/>
                    <a:lstStyle/>
                    <a:p>
                      <a:r>
                        <a:rPr lang="en-US" dirty="0"/>
                        <a:t>Select Star</a:t>
                      </a:r>
                    </a:p>
                  </a:txBody>
                  <a:tcPr/>
                </a:tc>
                <a:extLst>
                  <a:ext uri="{0D108BD9-81ED-4DB2-BD59-A6C34878D82A}">
                    <a16:rowId xmlns:a16="http://schemas.microsoft.com/office/drawing/2014/main" val="2524263022"/>
                  </a:ext>
                </a:extLst>
              </a:tr>
              <a:tr h="311413">
                <a:tc>
                  <a:txBody>
                    <a:bodyPr/>
                    <a:lstStyle/>
                    <a:p>
                      <a:r>
                        <a:rPr lang="en-US" dirty="0"/>
                        <a:t>Kalyani</a:t>
                      </a:r>
                    </a:p>
                  </a:txBody>
                  <a:tcPr/>
                </a:tc>
                <a:tc>
                  <a:txBody>
                    <a:bodyPr/>
                    <a:lstStyle/>
                    <a:p>
                      <a:r>
                        <a:rPr lang="en-US" dirty="0"/>
                        <a:t>Select Star</a:t>
                      </a:r>
                    </a:p>
                  </a:txBody>
                  <a:tcPr/>
                </a:tc>
                <a:extLst>
                  <a:ext uri="{0D108BD9-81ED-4DB2-BD59-A6C34878D82A}">
                    <a16:rowId xmlns:a16="http://schemas.microsoft.com/office/drawing/2014/main" val="1933388794"/>
                  </a:ext>
                </a:extLst>
              </a:tr>
            </a:tbl>
          </a:graphicData>
        </a:graphic>
      </p:graphicFrame>
      <p:cxnSp>
        <p:nvCxnSpPr>
          <p:cNvPr id="7" name="Straight Connector 6">
            <a:extLst>
              <a:ext uri="{FF2B5EF4-FFF2-40B4-BE49-F238E27FC236}">
                <a16:creationId xmlns:a16="http://schemas.microsoft.com/office/drawing/2014/main" id="{1DD1F5C6-B7E8-6017-AD7D-49E3B0D29766}"/>
              </a:ext>
            </a:extLst>
          </p:cNvPr>
          <p:cNvCxnSpPr>
            <a:cxnSpLocks/>
          </p:cNvCxnSpPr>
          <p:nvPr/>
        </p:nvCxnSpPr>
        <p:spPr>
          <a:xfrm>
            <a:off x="6309360" y="3496528"/>
            <a:ext cx="0" cy="321923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89EE2B0-94B5-177B-4B11-7013D05CA776}"/>
              </a:ext>
            </a:extLst>
          </p:cNvPr>
          <p:cNvSpPr txBox="1"/>
          <p:nvPr/>
        </p:nvSpPr>
        <p:spPr>
          <a:xfrm>
            <a:off x="345440" y="3345192"/>
            <a:ext cx="3413758" cy="307777"/>
          </a:xfrm>
          <a:prstGeom prst="rect">
            <a:avLst/>
          </a:prstGeom>
          <a:noFill/>
        </p:spPr>
        <p:txBody>
          <a:bodyPr wrap="square" rtlCol="0">
            <a:spAutoFit/>
          </a:bodyPr>
          <a:lstStyle/>
          <a:p>
            <a:r>
              <a:rPr lang="en-US" b="1" u="sng" dirty="0">
                <a:solidFill>
                  <a:schemeClr val="accent1"/>
                </a:solidFill>
              </a:rPr>
              <a:t>Accomplishments this week</a:t>
            </a:r>
          </a:p>
        </p:txBody>
      </p:sp>
      <p:sp>
        <p:nvSpPr>
          <p:cNvPr id="10" name="TextBox 9">
            <a:extLst>
              <a:ext uri="{FF2B5EF4-FFF2-40B4-BE49-F238E27FC236}">
                <a16:creationId xmlns:a16="http://schemas.microsoft.com/office/drawing/2014/main" id="{4DE70E55-0BD6-3C72-EA7B-24439813F019}"/>
              </a:ext>
            </a:extLst>
          </p:cNvPr>
          <p:cNvSpPr txBox="1"/>
          <p:nvPr/>
        </p:nvSpPr>
        <p:spPr>
          <a:xfrm>
            <a:off x="6522722" y="3345192"/>
            <a:ext cx="3413758" cy="307777"/>
          </a:xfrm>
          <a:prstGeom prst="rect">
            <a:avLst/>
          </a:prstGeom>
          <a:noFill/>
        </p:spPr>
        <p:txBody>
          <a:bodyPr wrap="square" rtlCol="0">
            <a:spAutoFit/>
          </a:bodyPr>
          <a:lstStyle/>
          <a:p>
            <a:r>
              <a:rPr lang="en-US" b="1" u="sng" dirty="0">
                <a:solidFill>
                  <a:schemeClr val="accent1"/>
                </a:solidFill>
              </a:rPr>
              <a:t>Tasks for next week</a:t>
            </a:r>
          </a:p>
        </p:txBody>
      </p:sp>
      <p:sp>
        <p:nvSpPr>
          <p:cNvPr id="12" name="TextBox 11">
            <a:extLst>
              <a:ext uri="{FF2B5EF4-FFF2-40B4-BE49-F238E27FC236}">
                <a16:creationId xmlns:a16="http://schemas.microsoft.com/office/drawing/2014/main" id="{640E5C9E-0A74-405B-F7A8-BF0E6A3EF26B}"/>
              </a:ext>
            </a:extLst>
          </p:cNvPr>
          <p:cNvSpPr txBox="1"/>
          <p:nvPr/>
        </p:nvSpPr>
        <p:spPr>
          <a:xfrm>
            <a:off x="345440" y="3799840"/>
            <a:ext cx="5750559" cy="1384995"/>
          </a:xfrm>
          <a:prstGeom prst="rect">
            <a:avLst/>
          </a:prstGeom>
          <a:noFill/>
        </p:spPr>
        <p:txBody>
          <a:bodyPr wrap="square" rtlCol="0">
            <a:spAutoFit/>
          </a:bodyPr>
          <a:lstStyle/>
          <a:p>
            <a:pPr marL="342900" indent="-342900">
              <a:buAutoNum type="arabicPeriod"/>
            </a:pPr>
            <a:r>
              <a:rPr lang="en-US" dirty="0"/>
              <a:t>Swaminathan: Implemented changes for complex liability systems</a:t>
            </a:r>
          </a:p>
          <a:p>
            <a:pPr marL="342900" indent="-342900">
              <a:buAutoNum type="arabicPeriod"/>
            </a:pPr>
            <a:r>
              <a:rPr lang="en-US" dirty="0"/>
              <a:t>Run FRE process on discovery to monitor how the flags and overrides are distributed</a:t>
            </a:r>
          </a:p>
          <a:p>
            <a:pPr marL="342900" indent="-342900">
              <a:buAutoNum type="arabicPeriod"/>
            </a:pPr>
            <a:r>
              <a:rPr lang="en-US" dirty="0"/>
              <a:t>Vulnerability remediation on insight API</a:t>
            </a:r>
          </a:p>
          <a:p>
            <a:pPr marL="342900" indent="-342900">
              <a:buAutoNum type="arabicPeriod"/>
            </a:pPr>
            <a:r>
              <a:rPr lang="en-US" dirty="0"/>
              <a:t>Kalyani: documenting overrides that are in FRE process and postprocessor overrides and how they overlap</a:t>
            </a:r>
          </a:p>
        </p:txBody>
      </p:sp>
      <p:sp>
        <p:nvSpPr>
          <p:cNvPr id="14" name="TextBox 13">
            <a:extLst>
              <a:ext uri="{FF2B5EF4-FFF2-40B4-BE49-F238E27FC236}">
                <a16:creationId xmlns:a16="http://schemas.microsoft.com/office/drawing/2014/main" id="{5D2A85D8-28C6-C915-B278-5431C058FE36}"/>
              </a:ext>
            </a:extLst>
          </p:cNvPr>
          <p:cNvSpPr txBox="1"/>
          <p:nvPr/>
        </p:nvSpPr>
        <p:spPr>
          <a:xfrm>
            <a:off x="6522722" y="3821159"/>
            <a:ext cx="5750559" cy="954107"/>
          </a:xfrm>
          <a:prstGeom prst="rect">
            <a:avLst/>
          </a:prstGeom>
          <a:noFill/>
        </p:spPr>
        <p:txBody>
          <a:bodyPr wrap="square" rtlCol="0">
            <a:spAutoFit/>
          </a:bodyPr>
          <a:lstStyle/>
          <a:p>
            <a:pPr marL="342900" indent="-342900">
              <a:buAutoNum type="arabicPeriod"/>
            </a:pPr>
            <a:r>
              <a:rPr lang="en-US" dirty="0"/>
              <a:t>Swaminathan: Refactor application to remove </a:t>
            </a:r>
            <a:r>
              <a:rPr lang="en-US" dirty="0" err="1"/>
              <a:t>redis</a:t>
            </a:r>
            <a:r>
              <a:rPr lang="en-US" dirty="0"/>
              <a:t> cluster on insight API endpoint and monitor impact to enable decision on decoupling and </a:t>
            </a:r>
            <a:r>
              <a:rPr lang="en-US" dirty="0" err="1"/>
              <a:t>redis</a:t>
            </a:r>
            <a:endParaRPr lang="en-US" dirty="0"/>
          </a:p>
          <a:p>
            <a:pPr marL="342900" indent="-342900">
              <a:buAutoNum type="arabicPeriod"/>
            </a:pPr>
            <a:r>
              <a:rPr lang="en-US" dirty="0"/>
              <a:t>Kalyani: Change detection for hard flag implementation </a:t>
            </a:r>
          </a:p>
        </p:txBody>
      </p:sp>
      <p:sp>
        <p:nvSpPr>
          <p:cNvPr id="9" name="TextBox 8">
            <a:extLst>
              <a:ext uri="{FF2B5EF4-FFF2-40B4-BE49-F238E27FC236}">
                <a16:creationId xmlns:a16="http://schemas.microsoft.com/office/drawing/2014/main" id="{6270493F-BCCC-122F-905E-7C0FF218A1DB}"/>
              </a:ext>
            </a:extLst>
          </p:cNvPr>
          <p:cNvSpPr txBox="1"/>
          <p:nvPr/>
        </p:nvSpPr>
        <p:spPr>
          <a:xfrm>
            <a:off x="9124950" y="246728"/>
            <a:ext cx="3067050" cy="307777"/>
          </a:xfrm>
          <a:prstGeom prst="rect">
            <a:avLst/>
          </a:prstGeom>
          <a:noFill/>
        </p:spPr>
        <p:txBody>
          <a:bodyPr wrap="square" rtlCol="0">
            <a:spAutoFit/>
          </a:bodyPr>
          <a:lstStyle/>
          <a:p>
            <a:r>
              <a:rPr lang="en-US" dirty="0"/>
              <a:t>Period Sept 28</a:t>
            </a:r>
            <a:r>
              <a:rPr lang="en-US" baseline="30000" dirty="0"/>
              <a:t>th</a:t>
            </a:r>
            <a:r>
              <a:rPr lang="en-US" dirty="0"/>
              <a:t> – Oct 2</a:t>
            </a:r>
            <a:r>
              <a:rPr lang="en-US" baseline="30000" dirty="0"/>
              <a:t>nd</a:t>
            </a:r>
            <a:r>
              <a:rPr lang="en-US" dirty="0"/>
              <a:t> 2026</a:t>
            </a:r>
          </a:p>
        </p:txBody>
      </p:sp>
    </p:spTree>
    <p:extLst>
      <p:ext uri="{BB962C8B-B14F-4D97-AF65-F5344CB8AC3E}">
        <p14:creationId xmlns:p14="http://schemas.microsoft.com/office/powerpoint/2010/main" val="1940308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E05A-E7D4-9BA0-A8A8-F6C4ECCD4BF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1E109E2-1637-1081-AFB4-654C247207DD}"/>
              </a:ext>
            </a:extLst>
          </p:cNvPr>
          <p:cNvSpPr>
            <a:spLocks noGrp="1"/>
          </p:cNvSpPr>
          <p:nvPr>
            <p:ph type="body" idx="1"/>
          </p:nvPr>
        </p:nvSpPr>
        <p:spPr/>
        <p:txBody>
          <a:bodyPr/>
          <a:lstStyle/>
          <a:p>
            <a:r>
              <a:rPr lang="en-US" dirty="0" err="1"/>
              <a:t>Mathemagicians</a:t>
            </a:r>
            <a:r>
              <a:rPr lang="en-US" dirty="0"/>
              <a:t>: Weekly Status</a:t>
            </a:r>
          </a:p>
        </p:txBody>
      </p:sp>
      <p:sp>
        <p:nvSpPr>
          <p:cNvPr id="3" name="TextBox 2">
            <a:extLst>
              <a:ext uri="{FF2B5EF4-FFF2-40B4-BE49-F238E27FC236}">
                <a16:creationId xmlns:a16="http://schemas.microsoft.com/office/drawing/2014/main" id="{B7F67034-1F7A-1745-2B37-9B6294870A65}"/>
              </a:ext>
            </a:extLst>
          </p:cNvPr>
          <p:cNvSpPr txBox="1"/>
          <p:nvPr/>
        </p:nvSpPr>
        <p:spPr>
          <a:xfrm>
            <a:off x="345440" y="1030471"/>
            <a:ext cx="5963920" cy="1815882"/>
          </a:xfrm>
          <a:prstGeom prst="rect">
            <a:avLst/>
          </a:prstGeom>
          <a:noFill/>
        </p:spPr>
        <p:txBody>
          <a:bodyPr wrap="square" rtlCol="0">
            <a:spAutoFit/>
          </a:bodyPr>
          <a:lstStyle/>
          <a:p>
            <a:r>
              <a:rPr lang="en-US" b="1" dirty="0">
                <a:solidFill>
                  <a:schemeClr val="accent1"/>
                </a:solidFill>
              </a:rPr>
              <a:t>Summary</a:t>
            </a:r>
          </a:p>
          <a:p>
            <a:endParaRPr lang="en-US" dirty="0"/>
          </a:p>
          <a:p>
            <a:r>
              <a:rPr lang="en-US" dirty="0"/>
              <a:t>AI Ignite team members are engaged in following tasks</a:t>
            </a:r>
          </a:p>
          <a:p>
            <a:pPr marL="342900" indent="-342900">
              <a:buFont typeface="Arial"/>
              <a:buAutoNum type="arabicPeriod"/>
            </a:pPr>
            <a:r>
              <a:rPr lang="en-US" dirty="0"/>
              <a:t>New business triage</a:t>
            </a:r>
          </a:p>
          <a:p>
            <a:pPr marL="342900" indent="-342900">
              <a:buFont typeface="Arial"/>
              <a:buAutoNum type="arabicPeriod"/>
            </a:pPr>
            <a:r>
              <a:rPr lang="en-US" dirty="0"/>
              <a:t>Renewal triage</a:t>
            </a:r>
          </a:p>
          <a:p>
            <a:pPr marL="342900" indent="-342900">
              <a:buFont typeface="Arial"/>
              <a:buAutoNum type="arabicPeriod"/>
            </a:pPr>
            <a:r>
              <a:rPr lang="en-US" dirty="0"/>
              <a:t>Business Prefill</a:t>
            </a:r>
          </a:p>
          <a:p>
            <a:pPr marL="342900" indent="-342900">
              <a:buFont typeface="Arial"/>
              <a:buAutoNum type="arabicPeriod"/>
            </a:pPr>
            <a:r>
              <a:rPr lang="en-US" dirty="0"/>
              <a:t>Hazard lookup</a:t>
            </a:r>
          </a:p>
          <a:p>
            <a:pPr marL="342900" indent="-342900">
              <a:buAutoNum type="arabicPeriod"/>
            </a:pPr>
            <a:endParaRPr lang="en-US" dirty="0"/>
          </a:p>
        </p:txBody>
      </p:sp>
      <p:sp>
        <p:nvSpPr>
          <p:cNvPr id="4" name="TextBox 3">
            <a:extLst>
              <a:ext uri="{FF2B5EF4-FFF2-40B4-BE49-F238E27FC236}">
                <a16:creationId xmlns:a16="http://schemas.microsoft.com/office/drawing/2014/main" id="{24969F7B-B612-E679-84DA-6BAD0373A495}"/>
              </a:ext>
            </a:extLst>
          </p:cNvPr>
          <p:cNvSpPr txBox="1"/>
          <p:nvPr/>
        </p:nvSpPr>
        <p:spPr>
          <a:xfrm>
            <a:off x="6376035" y="876583"/>
            <a:ext cx="2753360" cy="307777"/>
          </a:xfrm>
          <a:prstGeom prst="rect">
            <a:avLst/>
          </a:prstGeom>
          <a:noFill/>
        </p:spPr>
        <p:txBody>
          <a:bodyPr wrap="square" rtlCol="0">
            <a:spAutoFit/>
          </a:bodyPr>
          <a:lstStyle/>
          <a:p>
            <a:r>
              <a:rPr lang="en-US" b="1" dirty="0">
                <a:solidFill>
                  <a:schemeClr val="accent1"/>
                </a:solidFill>
              </a:rPr>
              <a:t>Team and Allocation</a:t>
            </a:r>
          </a:p>
        </p:txBody>
      </p:sp>
      <p:graphicFrame>
        <p:nvGraphicFramePr>
          <p:cNvPr id="5" name="Table 4">
            <a:extLst>
              <a:ext uri="{FF2B5EF4-FFF2-40B4-BE49-F238E27FC236}">
                <a16:creationId xmlns:a16="http://schemas.microsoft.com/office/drawing/2014/main" id="{C74E83DA-A8E7-ECAF-C4E8-77399DA45D20}"/>
              </a:ext>
            </a:extLst>
          </p:cNvPr>
          <p:cNvGraphicFramePr>
            <a:graphicFrameLocks noGrp="1"/>
          </p:cNvGraphicFramePr>
          <p:nvPr>
            <p:extLst>
              <p:ext uri="{D42A27DB-BD31-4B8C-83A1-F6EECF244321}">
                <p14:modId xmlns:p14="http://schemas.microsoft.com/office/powerpoint/2010/main" val="1690626045"/>
              </p:ext>
            </p:extLst>
          </p:nvPr>
        </p:nvGraphicFramePr>
        <p:xfrm>
          <a:off x="6695440" y="1220959"/>
          <a:ext cx="4114800" cy="1600440"/>
        </p:xfrm>
        <a:graphic>
          <a:graphicData uri="http://schemas.openxmlformats.org/drawingml/2006/table">
            <a:tbl>
              <a:tblPr firstRow="1" bandRow="1">
                <a:tableStyleId>{3C2FFA5D-87B4-456A-9821-1D502468CF0F}</a:tableStyleId>
              </a:tblPr>
              <a:tblGrid>
                <a:gridCol w="1990268">
                  <a:extLst>
                    <a:ext uri="{9D8B030D-6E8A-4147-A177-3AD203B41FA5}">
                      <a16:colId xmlns:a16="http://schemas.microsoft.com/office/drawing/2014/main" val="4230730890"/>
                    </a:ext>
                  </a:extLst>
                </a:gridCol>
                <a:gridCol w="2124532">
                  <a:extLst>
                    <a:ext uri="{9D8B030D-6E8A-4147-A177-3AD203B41FA5}">
                      <a16:colId xmlns:a16="http://schemas.microsoft.com/office/drawing/2014/main" val="3008117857"/>
                    </a:ext>
                  </a:extLst>
                </a:gridCol>
              </a:tblGrid>
              <a:tr h="320088">
                <a:tc>
                  <a:txBody>
                    <a:bodyPr/>
                    <a:lstStyle/>
                    <a:p>
                      <a:r>
                        <a:rPr lang="en-US" dirty="0"/>
                        <a:t>Team member</a:t>
                      </a:r>
                    </a:p>
                  </a:txBody>
                  <a:tcPr/>
                </a:tc>
                <a:tc>
                  <a:txBody>
                    <a:bodyPr/>
                    <a:lstStyle/>
                    <a:p>
                      <a:r>
                        <a:rPr lang="en-US" dirty="0"/>
                        <a:t>Allocation</a:t>
                      </a:r>
                    </a:p>
                  </a:txBody>
                  <a:tcPr/>
                </a:tc>
                <a:extLst>
                  <a:ext uri="{0D108BD9-81ED-4DB2-BD59-A6C34878D82A}">
                    <a16:rowId xmlns:a16="http://schemas.microsoft.com/office/drawing/2014/main" val="3695899915"/>
                  </a:ext>
                </a:extLst>
              </a:tr>
              <a:tr h="320088">
                <a:tc>
                  <a:txBody>
                    <a:bodyPr/>
                    <a:lstStyle/>
                    <a:p>
                      <a:r>
                        <a:rPr lang="en-US" dirty="0"/>
                        <a:t>Shwetha</a:t>
                      </a:r>
                    </a:p>
                  </a:txBody>
                  <a:tcPr/>
                </a:tc>
                <a:tc>
                  <a:txBody>
                    <a:bodyPr/>
                    <a:lstStyle/>
                    <a:p>
                      <a:r>
                        <a:rPr lang="en-US" dirty="0" err="1"/>
                        <a:t>Mathemagicians</a:t>
                      </a:r>
                      <a:endParaRPr lang="en-US" dirty="0"/>
                    </a:p>
                  </a:txBody>
                  <a:tcPr/>
                </a:tc>
                <a:extLst>
                  <a:ext uri="{0D108BD9-81ED-4DB2-BD59-A6C34878D82A}">
                    <a16:rowId xmlns:a16="http://schemas.microsoft.com/office/drawing/2014/main" val="2524263022"/>
                  </a:ext>
                </a:extLst>
              </a:tr>
              <a:tr h="320088">
                <a:tc>
                  <a:txBody>
                    <a:bodyPr/>
                    <a:lstStyle/>
                    <a:p>
                      <a:r>
                        <a:rPr lang="en-US" dirty="0"/>
                        <a:t>Brooklyn</a:t>
                      </a:r>
                    </a:p>
                  </a:txBody>
                  <a:tcPr/>
                </a:tc>
                <a:tc>
                  <a:txBody>
                    <a:bodyPr/>
                    <a:lstStyle/>
                    <a:p>
                      <a:r>
                        <a:rPr lang="en-US" dirty="0" err="1"/>
                        <a:t>Mathemagicians</a:t>
                      </a:r>
                      <a:endParaRPr lang="en-US" dirty="0"/>
                    </a:p>
                  </a:txBody>
                  <a:tcPr/>
                </a:tc>
                <a:extLst>
                  <a:ext uri="{0D108BD9-81ED-4DB2-BD59-A6C34878D82A}">
                    <a16:rowId xmlns:a16="http://schemas.microsoft.com/office/drawing/2014/main" val="540457171"/>
                  </a:ext>
                </a:extLst>
              </a:tr>
              <a:tr h="320088">
                <a:tc>
                  <a:txBody>
                    <a:bodyPr/>
                    <a:lstStyle/>
                    <a:p>
                      <a:r>
                        <a:rPr lang="en-US" dirty="0" err="1"/>
                        <a:t>Koustav</a:t>
                      </a:r>
                      <a:endParaRPr lang="en-US" dirty="0"/>
                    </a:p>
                  </a:txBody>
                  <a:tcPr/>
                </a:tc>
                <a:tc>
                  <a:txBody>
                    <a:bodyPr/>
                    <a:lstStyle/>
                    <a:p>
                      <a:r>
                        <a:rPr lang="en-US" dirty="0" err="1"/>
                        <a:t>Mathemagicians</a:t>
                      </a:r>
                      <a:endParaRPr lang="en-US" dirty="0"/>
                    </a:p>
                  </a:txBody>
                  <a:tcPr/>
                </a:tc>
                <a:extLst>
                  <a:ext uri="{0D108BD9-81ED-4DB2-BD59-A6C34878D82A}">
                    <a16:rowId xmlns:a16="http://schemas.microsoft.com/office/drawing/2014/main" val="235889628"/>
                  </a:ext>
                </a:extLst>
              </a:tr>
              <a:tr h="320088">
                <a:tc>
                  <a:txBody>
                    <a:bodyPr/>
                    <a:lstStyle/>
                    <a:p>
                      <a:r>
                        <a:rPr lang="en-US" dirty="0"/>
                        <a:t>Nikhil</a:t>
                      </a:r>
                    </a:p>
                  </a:txBody>
                  <a:tcPr/>
                </a:tc>
                <a:tc>
                  <a:txBody>
                    <a:bodyPr/>
                    <a:lstStyle/>
                    <a:p>
                      <a:r>
                        <a:rPr lang="en-US" dirty="0" err="1"/>
                        <a:t>Mathemagicians</a:t>
                      </a:r>
                      <a:endParaRPr lang="en-US" dirty="0"/>
                    </a:p>
                  </a:txBody>
                  <a:tcPr/>
                </a:tc>
                <a:extLst>
                  <a:ext uri="{0D108BD9-81ED-4DB2-BD59-A6C34878D82A}">
                    <a16:rowId xmlns:a16="http://schemas.microsoft.com/office/drawing/2014/main" val="969788739"/>
                  </a:ext>
                </a:extLst>
              </a:tr>
            </a:tbl>
          </a:graphicData>
        </a:graphic>
      </p:graphicFrame>
      <p:cxnSp>
        <p:nvCxnSpPr>
          <p:cNvPr id="7" name="Straight Connector 6">
            <a:extLst>
              <a:ext uri="{FF2B5EF4-FFF2-40B4-BE49-F238E27FC236}">
                <a16:creationId xmlns:a16="http://schemas.microsoft.com/office/drawing/2014/main" id="{0D4FE7A2-7A33-BB01-3AE8-286218DAF1FA}"/>
              </a:ext>
            </a:extLst>
          </p:cNvPr>
          <p:cNvCxnSpPr>
            <a:cxnSpLocks/>
          </p:cNvCxnSpPr>
          <p:nvPr/>
        </p:nvCxnSpPr>
        <p:spPr>
          <a:xfrm>
            <a:off x="6309360" y="3496528"/>
            <a:ext cx="0" cy="321923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A86F2E6-4F1B-974C-CCB4-A347E25046F1}"/>
              </a:ext>
            </a:extLst>
          </p:cNvPr>
          <p:cNvSpPr txBox="1"/>
          <p:nvPr/>
        </p:nvSpPr>
        <p:spPr>
          <a:xfrm>
            <a:off x="345440" y="3345192"/>
            <a:ext cx="3413758" cy="307777"/>
          </a:xfrm>
          <a:prstGeom prst="rect">
            <a:avLst/>
          </a:prstGeom>
          <a:noFill/>
        </p:spPr>
        <p:txBody>
          <a:bodyPr wrap="square" rtlCol="0">
            <a:spAutoFit/>
          </a:bodyPr>
          <a:lstStyle/>
          <a:p>
            <a:r>
              <a:rPr lang="en-US" b="1" u="sng" dirty="0">
                <a:solidFill>
                  <a:schemeClr val="accent1"/>
                </a:solidFill>
              </a:rPr>
              <a:t>Accomplishments this week</a:t>
            </a:r>
          </a:p>
        </p:txBody>
      </p:sp>
      <p:sp>
        <p:nvSpPr>
          <p:cNvPr id="10" name="TextBox 9">
            <a:extLst>
              <a:ext uri="{FF2B5EF4-FFF2-40B4-BE49-F238E27FC236}">
                <a16:creationId xmlns:a16="http://schemas.microsoft.com/office/drawing/2014/main" id="{B2D2AC15-C7E9-5BAE-70FC-E3C43CE9A60D}"/>
              </a:ext>
            </a:extLst>
          </p:cNvPr>
          <p:cNvSpPr txBox="1"/>
          <p:nvPr/>
        </p:nvSpPr>
        <p:spPr>
          <a:xfrm>
            <a:off x="6522722" y="3345192"/>
            <a:ext cx="3413758" cy="307777"/>
          </a:xfrm>
          <a:prstGeom prst="rect">
            <a:avLst/>
          </a:prstGeom>
          <a:noFill/>
        </p:spPr>
        <p:txBody>
          <a:bodyPr wrap="square" rtlCol="0">
            <a:spAutoFit/>
          </a:bodyPr>
          <a:lstStyle/>
          <a:p>
            <a:r>
              <a:rPr lang="en-US" b="1" u="sng" dirty="0">
                <a:solidFill>
                  <a:schemeClr val="accent1"/>
                </a:solidFill>
              </a:rPr>
              <a:t>Tasks for next week</a:t>
            </a:r>
          </a:p>
        </p:txBody>
      </p:sp>
      <p:sp>
        <p:nvSpPr>
          <p:cNvPr id="12" name="TextBox 11">
            <a:extLst>
              <a:ext uri="{FF2B5EF4-FFF2-40B4-BE49-F238E27FC236}">
                <a16:creationId xmlns:a16="http://schemas.microsoft.com/office/drawing/2014/main" id="{B906437F-62B8-75C1-F99A-138A0510A257}"/>
              </a:ext>
            </a:extLst>
          </p:cNvPr>
          <p:cNvSpPr txBox="1"/>
          <p:nvPr/>
        </p:nvSpPr>
        <p:spPr>
          <a:xfrm>
            <a:off x="345440" y="3799840"/>
            <a:ext cx="5750559" cy="2246769"/>
          </a:xfrm>
          <a:prstGeom prst="rect">
            <a:avLst/>
          </a:prstGeom>
          <a:noFill/>
        </p:spPr>
        <p:txBody>
          <a:bodyPr wrap="square" rtlCol="0">
            <a:spAutoFit/>
          </a:bodyPr>
          <a:lstStyle/>
          <a:p>
            <a:pPr marL="342900" indent="-342900">
              <a:buAutoNum type="arabicPeriod"/>
            </a:pPr>
            <a:r>
              <a:rPr lang="en-US" dirty="0"/>
              <a:t>Swetha: Agentic Routing Engine (ARE) output analysis and Metrics</a:t>
            </a:r>
          </a:p>
          <a:p>
            <a:pPr marL="342900" indent="-342900">
              <a:buAutoNum type="arabicPeriod"/>
            </a:pPr>
            <a:r>
              <a:rPr lang="en-US" dirty="0"/>
              <a:t>Swetha: Impact Analysis of deterministic rules for </a:t>
            </a:r>
            <a:r>
              <a:rPr lang="en-US" dirty="0" err="1"/>
              <a:t>NBTriage</a:t>
            </a:r>
            <a:endParaRPr lang="en-US" dirty="0"/>
          </a:p>
          <a:p>
            <a:pPr marL="342900" indent="-342900">
              <a:buAutoNum type="arabicPeriod"/>
            </a:pPr>
            <a:r>
              <a:rPr lang="en-US" dirty="0"/>
              <a:t>Brooklyn: Addressed PR comments and security vulnerabilities</a:t>
            </a:r>
          </a:p>
          <a:p>
            <a:pPr marL="342900" indent="-342900">
              <a:buAutoNum type="arabicPeriod"/>
            </a:pPr>
            <a:r>
              <a:rPr lang="en-US" dirty="0"/>
              <a:t>Brooklyn: work on model health monitoring</a:t>
            </a:r>
          </a:p>
          <a:p>
            <a:pPr marL="342900" indent="-342900">
              <a:buAutoNum type="arabicPeriod"/>
            </a:pPr>
            <a:r>
              <a:rPr lang="en-US" dirty="0" err="1"/>
              <a:t>Koustav</a:t>
            </a:r>
            <a:r>
              <a:rPr lang="en-US" dirty="0"/>
              <a:t>: Captives impact analysis </a:t>
            </a:r>
          </a:p>
          <a:p>
            <a:pPr marL="342900" indent="-342900">
              <a:buAutoNum type="arabicPeriod"/>
            </a:pPr>
            <a:r>
              <a:rPr lang="en-US" dirty="0" err="1"/>
              <a:t>Koustav</a:t>
            </a:r>
            <a:r>
              <a:rPr lang="en-US" dirty="0"/>
              <a:t>: ARE deployment readiness</a:t>
            </a:r>
          </a:p>
          <a:p>
            <a:pPr marL="342900" indent="-342900">
              <a:buAutoNum type="arabicPeriod"/>
            </a:pPr>
            <a:r>
              <a:rPr lang="en-US" dirty="0"/>
              <a:t>Nikhil: Work on New Business (NB) Triage QA </a:t>
            </a:r>
          </a:p>
          <a:p>
            <a:pPr marL="342900" indent="-342900">
              <a:buAutoNum type="arabicPeriod"/>
            </a:pPr>
            <a:r>
              <a:rPr lang="en-US" dirty="0"/>
              <a:t>Nikhil: work on PR comments for NB Triage</a:t>
            </a:r>
          </a:p>
          <a:p>
            <a:pPr marL="342900" indent="-342900">
              <a:buAutoNum type="arabicPeriod"/>
            </a:pPr>
            <a:r>
              <a:rPr lang="en-US" dirty="0"/>
              <a:t>Nikhil: work on DEE transaction file story</a:t>
            </a:r>
          </a:p>
        </p:txBody>
      </p:sp>
      <p:sp>
        <p:nvSpPr>
          <p:cNvPr id="14" name="TextBox 13">
            <a:extLst>
              <a:ext uri="{FF2B5EF4-FFF2-40B4-BE49-F238E27FC236}">
                <a16:creationId xmlns:a16="http://schemas.microsoft.com/office/drawing/2014/main" id="{C941A05B-3B06-C036-C7DD-F4C34E30BCD9}"/>
              </a:ext>
            </a:extLst>
          </p:cNvPr>
          <p:cNvSpPr txBox="1"/>
          <p:nvPr/>
        </p:nvSpPr>
        <p:spPr>
          <a:xfrm>
            <a:off x="6522722" y="3821159"/>
            <a:ext cx="5750559" cy="954107"/>
          </a:xfrm>
          <a:prstGeom prst="rect">
            <a:avLst/>
          </a:prstGeom>
          <a:noFill/>
        </p:spPr>
        <p:txBody>
          <a:bodyPr wrap="square" rtlCol="0">
            <a:spAutoFit/>
          </a:bodyPr>
          <a:lstStyle/>
          <a:p>
            <a:pPr marL="342900" indent="-342900">
              <a:buFont typeface="Arial"/>
              <a:buAutoNum type="arabicPeriod"/>
            </a:pPr>
            <a:r>
              <a:rPr lang="en-US" dirty="0"/>
              <a:t>Swetha: Continue with Agentic Routing Engine (ARE) analysis</a:t>
            </a:r>
          </a:p>
          <a:p>
            <a:pPr marL="342900" indent="-342900">
              <a:buFont typeface="Arial"/>
              <a:buAutoNum type="arabicPeriod"/>
            </a:pPr>
            <a:r>
              <a:rPr lang="en-US" dirty="0"/>
              <a:t>Brooklyn: Continue to work on Model health monitoring </a:t>
            </a:r>
          </a:p>
          <a:p>
            <a:pPr marL="342900" indent="-342900">
              <a:buFont typeface="Arial"/>
              <a:buAutoNum type="arabicPeriod"/>
            </a:pPr>
            <a:r>
              <a:rPr lang="en-US" dirty="0" err="1"/>
              <a:t>Koustav</a:t>
            </a:r>
            <a:r>
              <a:rPr lang="en-US" dirty="0"/>
              <a:t>: Model maintenance and optimization</a:t>
            </a:r>
          </a:p>
          <a:p>
            <a:pPr marL="342900" indent="-342900">
              <a:buFont typeface="Arial"/>
              <a:buAutoNum type="arabicPeriod"/>
            </a:pPr>
            <a:r>
              <a:rPr lang="en-US" dirty="0"/>
              <a:t>Nikhil: QA automation </a:t>
            </a:r>
          </a:p>
        </p:txBody>
      </p:sp>
      <p:sp>
        <p:nvSpPr>
          <p:cNvPr id="9" name="TextBox 8">
            <a:extLst>
              <a:ext uri="{FF2B5EF4-FFF2-40B4-BE49-F238E27FC236}">
                <a16:creationId xmlns:a16="http://schemas.microsoft.com/office/drawing/2014/main" id="{0A9F2AA7-6EA6-5CBE-14FF-119F0F9EACC4}"/>
              </a:ext>
            </a:extLst>
          </p:cNvPr>
          <p:cNvSpPr txBox="1"/>
          <p:nvPr/>
        </p:nvSpPr>
        <p:spPr>
          <a:xfrm>
            <a:off x="9124950" y="246728"/>
            <a:ext cx="3067050" cy="307777"/>
          </a:xfrm>
          <a:prstGeom prst="rect">
            <a:avLst/>
          </a:prstGeom>
          <a:noFill/>
        </p:spPr>
        <p:txBody>
          <a:bodyPr wrap="square" rtlCol="0">
            <a:spAutoFit/>
          </a:bodyPr>
          <a:lstStyle/>
          <a:p>
            <a:r>
              <a:rPr lang="en-US" dirty="0"/>
              <a:t>Period Sept 28</a:t>
            </a:r>
            <a:r>
              <a:rPr lang="en-US" baseline="30000" dirty="0"/>
              <a:t>th</a:t>
            </a:r>
            <a:r>
              <a:rPr lang="en-US" dirty="0"/>
              <a:t> – Oct 2</a:t>
            </a:r>
            <a:r>
              <a:rPr lang="en-US" baseline="30000" dirty="0"/>
              <a:t>nd</a:t>
            </a:r>
            <a:r>
              <a:rPr lang="en-US" dirty="0"/>
              <a:t> 2026</a:t>
            </a:r>
          </a:p>
        </p:txBody>
      </p:sp>
    </p:spTree>
    <p:extLst>
      <p:ext uri="{BB962C8B-B14F-4D97-AF65-F5344CB8AC3E}">
        <p14:creationId xmlns:p14="http://schemas.microsoft.com/office/powerpoint/2010/main" val="1106851635"/>
      </p:ext>
    </p:extLst>
  </p:cSld>
  <p:clrMapOvr>
    <a:masterClrMapping/>
  </p:clrMapOvr>
</p:sld>
</file>

<file path=ppt/theme/theme1.xml><?xml version="1.0" encoding="utf-8"?>
<a:theme xmlns:a="http://schemas.openxmlformats.org/drawingml/2006/main" name="Tiger Analytics Base">
  <a:themeElements>
    <a:clrScheme name="Tiger Colors">
      <a:dk1>
        <a:srgbClr val="000000"/>
      </a:dk1>
      <a:lt1>
        <a:srgbClr val="FFFFFF"/>
      </a:lt1>
      <a:dk2>
        <a:srgbClr val="4F4F4F"/>
      </a:dk2>
      <a:lt2>
        <a:srgbClr val="EBEBEB"/>
      </a:lt2>
      <a:accent1>
        <a:srgbClr val="F7901D"/>
      </a:accent1>
      <a:accent2>
        <a:srgbClr val="4F4F4F"/>
      </a:accent2>
      <a:accent3>
        <a:srgbClr val="AEAEAF"/>
      </a:accent3>
      <a:accent4>
        <a:srgbClr val="05C97F"/>
      </a:accent4>
      <a:accent5>
        <a:srgbClr val="FFBE02"/>
      </a:accent5>
      <a:accent6>
        <a:srgbClr val="00B1E8"/>
      </a:accent6>
      <a:hlink>
        <a:srgbClr val="18749C"/>
      </a:hlink>
      <a:folHlink>
        <a:srgbClr val="18749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463</Words>
  <Application>Microsoft Office PowerPoint</Application>
  <PresentationFormat>Widescreen</PresentationFormat>
  <Paragraphs>98</Paragraphs>
  <Slides>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Poppins Medium</vt:lpstr>
      <vt:lpstr>Trebuchet MS</vt:lpstr>
      <vt:lpstr>Arial</vt:lpstr>
      <vt:lpstr>Poppins</vt:lpstr>
      <vt:lpstr>Calibri</vt:lpstr>
      <vt:lpstr>Inter</vt:lpstr>
      <vt:lpstr>Tiger Analytics Base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Nikhil Ladha</dc:creator>
  <cp:lastModifiedBy>Sid Ramesh</cp:lastModifiedBy>
  <cp:revision>2</cp:revision>
  <dcterms:created xsi:type="dcterms:W3CDTF">2025-01-21T10:54:04Z</dcterms:created>
  <dcterms:modified xsi:type="dcterms:W3CDTF">2026-10-02T22:23:29Z</dcterms:modified>
</cp:coreProperties>
</file>